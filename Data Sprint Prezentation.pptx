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League Spartan" charset="1" panose="00000800000000000000"/>
      <p:regular r:id="rId32"/>
    </p:embeddedFont>
    <p:embeddedFont>
      <p:font typeface="Poppins Bold" charset="1" panose="00000800000000000000"/>
      <p:regular r:id="rId33"/>
    </p:embeddedFont>
    <p:embeddedFont>
      <p:font typeface="Poppins" charset="1" panose="00000500000000000000"/>
      <p:regular r:id="rId34"/>
    </p:embeddedFont>
    <p:embeddedFont>
      <p:font typeface="Poppins Bold Italics" charset="1" panose="000008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13150" y="-103566"/>
            <a:ext cx="19986279" cy="10494133"/>
            <a:chOff x="0" y="0"/>
            <a:chExt cx="77399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3997" cy="406400"/>
            </a:xfrm>
            <a:custGeom>
              <a:avLst/>
              <a:gdLst/>
              <a:ahLst/>
              <a:cxnLst/>
              <a:rect r="r" b="b" t="t" l="l"/>
              <a:pathLst>
                <a:path h="406400" w="773997">
                  <a:moveTo>
                    <a:pt x="570797" y="0"/>
                  </a:moveTo>
                  <a:cubicBezTo>
                    <a:pt x="683021" y="0"/>
                    <a:pt x="773997" y="90976"/>
                    <a:pt x="773997" y="203200"/>
                  </a:cubicBezTo>
                  <a:cubicBezTo>
                    <a:pt x="773997" y="315424"/>
                    <a:pt x="683021" y="406400"/>
                    <a:pt x="5707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7399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6220331" y="-2166127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18283678" y="0"/>
                </a:moveTo>
                <a:lnTo>
                  <a:pt x="0" y="0"/>
                </a:lnTo>
                <a:lnTo>
                  <a:pt x="0" y="12112937"/>
                </a:lnTo>
                <a:lnTo>
                  <a:pt x="18283678" y="12112937"/>
                </a:lnTo>
                <a:lnTo>
                  <a:pt x="18283678" y="0"/>
                </a:lnTo>
                <a:close/>
              </a:path>
            </a:pathLst>
          </a:custGeom>
          <a:blipFill>
            <a:blip r:embed="rId2">
              <a:alphaModFix amt="7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82121" y="6918804"/>
            <a:ext cx="4205879" cy="3471762"/>
          </a:xfrm>
          <a:custGeom>
            <a:avLst/>
            <a:gdLst/>
            <a:ahLst/>
            <a:cxnLst/>
            <a:rect r="r" b="b" t="t" l="l"/>
            <a:pathLst>
              <a:path h="3471762" w="4205879">
                <a:moveTo>
                  <a:pt x="0" y="0"/>
                </a:moveTo>
                <a:lnTo>
                  <a:pt x="4205879" y="0"/>
                </a:lnTo>
                <a:lnTo>
                  <a:pt x="4205879" y="3471762"/>
                </a:lnTo>
                <a:lnTo>
                  <a:pt x="0" y="3471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02236" y="224383"/>
            <a:ext cx="1853438" cy="1853438"/>
          </a:xfrm>
          <a:custGeom>
            <a:avLst/>
            <a:gdLst/>
            <a:ahLst/>
            <a:cxnLst/>
            <a:rect r="r" b="b" t="t" l="l"/>
            <a:pathLst>
              <a:path h="1853438" w="1853438">
                <a:moveTo>
                  <a:pt x="0" y="0"/>
                </a:moveTo>
                <a:lnTo>
                  <a:pt x="1853439" y="0"/>
                </a:lnTo>
                <a:lnTo>
                  <a:pt x="1853439" y="1853438"/>
                </a:lnTo>
                <a:lnTo>
                  <a:pt x="0" y="1853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677" y="3148202"/>
            <a:ext cx="14345202" cy="3383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3"/>
              </a:lnSpc>
            </a:pPr>
            <a:r>
              <a:rPr lang="en-US" b="true" sz="10333">
                <a:solidFill>
                  <a:srgbClr val="E8E7E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</a:t>
            </a:r>
          </a:p>
          <a:p>
            <a:pPr algn="ctr">
              <a:lnSpc>
                <a:spcPts val="13433"/>
              </a:lnSpc>
            </a:pPr>
            <a:r>
              <a:rPr lang="en-US" b="true" sz="10333">
                <a:solidFill>
                  <a:srgbClr val="E8E7E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Satisfaction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58683" y="7710310"/>
            <a:ext cx="5931653" cy="138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2"/>
              </a:lnSpc>
            </a:pPr>
            <a:r>
              <a:rPr lang="en-US" b="true" sz="3880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CustomerPulse Brazil (Data Analytics Team)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4437" y="1252273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8"/>
                </a:lnTo>
                <a:lnTo>
                  <a:pt x="0" y="1211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283546" y="3718810"/>
            <a:ext cx="3413699" cy="3589932"/>
          </a:xfrm>
          <a:custGeom>
            <a:avLst/>
            <a:gdLst/>
            <a:ahLst/>
            <a:cxnLst/>
            <a:rect r="r" b="b" t="t" l="l"/>
            <a:pathLst>
              <a:path h="3589932" w="3413699">
                <a:moveTo>
                  <a:pt x="3413700" y="0"/>
                </a:moveTo>
                <a:lnTo>
                  <a:pt x="0" y="0"/>
                </a:lnTo>
                <a:lnTo>
                  <a:pt x="0" y="3589932"/>
                </a:lnTo>
                <a:lnTo>
                  <a:pt x="3413700" y="3589932"/>
                </a:lnTo>
                <a:lnTo>
                  <a:pt x="34137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12738" y="1080823"/>
            <a:ext cx="1193074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DE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6733" y="3345741"/>
            <a:ext cx="14462753" cy="494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Between </a:t>
            </a:r>
            <a:r>
              <a:rPr lang="en-US" b="true" sz="39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2017 and 2018</a:t>
            </a: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, Ol</a:t>
            </a: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ist in </a:t>
            </a:r>
            <a:r>
              <a:rPr lang="en-US" b="true" sz="39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Brazil</a:t>
            </a: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 maintained an overall average review score within the satisfied range; however, </a:t>
            </a:r>
            <a:r>
              <a:rPr lang="en-US" b="true" sz="39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11.4%</a:t>
            </a: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 of customers were still </a:t>
            </a:r>
            <a:r>
              <a:rPr lang="en-US" b="true" sz="3999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highly unsatisfied</a:t>
            </a: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. This raises the need to understand </a:t>
            </a: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what drove these negative experiences</a:t>
            </a:r>
            <a:r>
              <a:rPr lang="en-US" sz="3999">
                <a:solidFill>
                  <a:srgbClr val="E8E7E7"/>
                </a:solidFill>
                <a:latin typeface="Poppins"/>
                <a:ea typeface="Poppins"/>
                <a:cs typeface="Poppins"/>
                <a:sym typeface="Poppins"/>
              </a:rPr>
              <a:t> and identify the steps required to address them.</a:t>
            </a:r>
          </a:p>
          <a:p>
            <a:pPr algn="ctr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4437" y="1252273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8"/>
                </a:lnTo>
                <a:lnTo>
                  <a:pt x="0" y="1211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77321" y="171450"/>
            <a:ext cx="1193074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Approches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42221" y="2451787"/>
            <a:ext cx="10200941" cy="1285054"/>
            <a:chOff x="0" y="0"/>
            <a:chExt cx="2686668" cy="338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86668" cy="338450"/>
            </a:xfrm>
            <a:custGeom>
              <a:avLst/>
              <a:gdLst/>
              <a:ahLst/>
              <a:cxnLst/>
              <a:rect r="r" b="b" t="t" l="l"/>
              <a:pathLst>
                <a:path h="338450" w="2686668">
                  <a:moveTo>
                    <a:pt x="38706" y="0"/>
                  </a:moveTo>
                  <a:lnTo>
                    <a:pt x="2647962" y="0"/>
                  </a:lnTo>
                  <a:cubicBezTo>
                    <a:pt x="2669338" y="0"/>
                    <a:pt x="2686668" y="17329"/>
                    <a:pt x="2686668" y="38706"/>
                  </a:cubicBezTo>
                  <a:lnTo>
                    <a:pt x="2686668" y="299744"/>
                  </a:lnTo>
                  <a:cubicBezTo>
                    <a:pt x="2686668" y="321121"/>
                    <a:pt x="2669338" y="338450"/>
                    <a:pt x="2647962" y="338450"/>
                  </a:cubicBezTo>
                  <a:lnTo>
                    <a:pt x="38706" y="338450"/>
                  </a:lnTo>
                  <a:cubicBezTo>
                    <a:pt x="17329" y="338450"/>
                    <a:pt x="0" y="321121"/>
                    <a:pt x="0" y="299744"/>
                  </a:cubicBezTo>
                  <a:lnTo>
                    <a:pt x="0" y="38706"/>
                  </a:lnTo>
                  <a:cubicBezTo>
                    <a:pt x="0" y="17329"/>
                    <a:pt x="17329" y="0"/>
                    <a:pt x="38706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686668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608579" y="2712046"/>
            <a:ext cx="7070842" cy="65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0"/>
              </a:lnSpc>
            </a:pPr>
            <a:r>
              <a:rPr lang="en-US" sz="3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Measure satisfaction levels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042221" y="4113945"/>
            <a:ext cx="10200941" cy="1285054"/>
            <a:chOff x="0" y="0"/>
            <a:chExt cx="2686668" cy="338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86668" cy="338450"/>
            </a:xfrm>
            <a:custGeom>
              <a:avLst/>
              <a:gdLst/>
              <a:ahLst/>
              <a:cxnLst/>
              <a:rect r="r" b="b" t="t" l="l"/>
              <a:pathLst>
                <a:path h="338450" w="2686668">
                  <a:moveTo>
                    <a:pt x="38706" y="0"/>
                  </a:moveTo>
                  <a:lnTo>
                    <a:pt x="2647962" y="0"/>
                  </a:lnTo>
                  <a:cubicBezTo>
                    <a:pt x="2669338" y="0"/>
                    <a:pt x="2686668" y="17329"/>
                    <a:pt x="2686668" y="38706"/>
                  </a:cubicBezTo>
                  <a:lnTo>
                    <a:pt x="2686668" y="299744"/>
                  </a:lnTo>
                  <a:cubicBezTo>
                    <a:pt x="2686668" y="321121"/>
                    <a:pt x="2669338" y="338450"/>
                    <a:pt x="2647962" y="338450"/>
                  </a:cubicBezTo>
                  <a:lnTo>
                    <a:pt x="38706" y="338450"/>
                  </a:lnTo>
                  <a:cubicBezTo>
                    <a:pt x="17329" y="338450"/>
                    <a:pt x="0" y="321121"/>
                    <a:pt x="0" y="299744"/>
                  </a:cubicBezTo>
                  <a:lnTo>
                    <a:pt x="0" y="38706"/>
                  </a:lnTo>
                  <a:cubicBezTo>
                    <a:pt x="0" y="17329"/>
                    <a:pt x="17329" y="0"/>
                    <a:pt x="38706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686668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498262" y="4374204"/>
            <a:ext cx="9684117" cy="65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0"/>
              </a:lnSpc>
            </a:pPr>
            <a:r>
              <a:rPr lang="en-US" sz="3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 product category performance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043529" y="5779998"/>
            <a:ext cx="10200941" cy="1285054"/>
            <a:chOff x="0" y="0"/>
            <a:chExt cx="2686668" cy="338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86668" cy="338450"/>
            </a:xfrm>
            <a:custGeom>
              <a:avLst/>
              <a:gdLst/>
              <a:ahLst/>
              <a:cxnLst/>
              <a:rect r="r" b="b" t="t" l="l"/>
              <a:pathLst>
                <a:path h="338450" w="2686668">
                  <a:moveTo>
                    <a:pt x="38706" y="0"/>
                  </a:moveTo>
                  <a:lnTo>
                    <a:pt x="2647962" y="0"/>
                  </a:lnTo>
                  <a:cubicBezTo>
                    <a:pt x="2669338" y="0"/>
                    <a:pt x="2686668" y="17329"/>
                    <a:pt x="2686668" y="38706"/>
                  </a:cubicBezTo>
                  <a:lnTo>
                    <a:pt x="2686668" y="299744"/>
                  </a:lnTo>
                  <a:cubicBezTo>
                    <a:pt x="2686668" y="321121"/>
                    <a:pt x="2669338" y="338450"/>
                    <a:pt x="2647962" y="338450"/>
                  </a:cubicBezTo>
                  <a:lnTo>
                    <a:pt x="38706" y="338450"/>
                  </a:lnTo>
                  <a:cubicBezTo>
                    <a:pt x="17329" y="338450"/>
                    <a:pt x="0" y="321121"/>
                    <a:pt x="0" y="299744"/>
                  </a:cubicBezTo>
                  <a:lnTo>
                    <a:pt x="0" y="38706"/>
                  </a:lnTo>
                  <a:cubicBezTo>
                    <a:pt x="0" y="17329"/>
                    <a:pt x="17329" y="0"/>
                    <a:pt x="38706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686668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301942" y="6040257"/>
            <a:ext cx="9684117" cy="65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0"/>
              </a:lnSpc>
            </a:pPr>
            <a:r>
              <a:rPr lang="en-US" sz="3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Examine delivery performance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042221" y="7446052"/>
            <a:ext cx="10200941" cy="1285054"/>
            <a:chOff x="0" y="0"/>
            <a:chExt cx="2686668" cy="338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86668" cy="338450"/>
            </a:xfrm>
            <a:custGeom>
              <a:avLst/>
              <a:gdLst/>
              <a:ahLst/>
              <a:cxnLst/>
              <a:rect r="r" b="b" t="t" l="l"/>
              <a:pathLst>
                <a:path h="338450" w="2686668">
                  <a:moveTo>
                    <a:pt x="38706" y="0"/>
                  </a:moveTo>
                  <a:lnTo>
                    <a:pt x="2647962" y="0"/>
                  </a:lnTo>
                  <a:cubicBezTo>
                    <a:pt x="2669338" y="0"/>
                    <a:pt x="2686668" y="17329"/>
                    <a:pt x="2686668" y="38706"/>
                  </a:cubicBezTo>
                  <a:lnTo>
                    <a:pt x="2686668" y="299744"/>
                  </a:lnTo>
                  <a:cubicBezTo>
                    <a:pt x="2686668" y="321121"/>
                    <a:pt x="2669338" y="338450"/>
                    <a:pt x="2647962" y="338450"/>
                  </a:cubicBezTo>
                  <a:lnTo>
                    <a:pt x="38706" y="338450"/>
                  </a:lnTo>
                  <a:cubicBezTo>
                    <a:pt x="17329" y="338450"/>
                    <a:pt x="0" y="321121"/>
                    <a:pt x="0" y="299744"/>
                  </a:cubicBezTo>
                  <a:lnTo>
                    <a:pt x="0" y="38706"/>
                  </a:lnTo>
                  <a:cubicBezTo>
                    <a:pt x="0" y="17329"/>
                    <a:pt x="17329" y="0"/>
                    <a:pt x="38706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686668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300633" y="7706311"/>
            <a:ext cx="9684117" cy="65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0"/>
              </a:lnSpc>
            </a:pPr>
            <a:r>
              <a:rPr lang="en-US" sz="36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Assess seller behavior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449285" y="2451787"/>
            <a:ext cx="1185873" cy="6193362"/>
            <a:chOff x="0" y="0"/>
            <a:chExt cx="1581164" cy="82578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00" y="0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5"/>
                  </a:lnTo>
                  <a:lnTo>
                    <a:pt x="0" y="1488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2700" y="2274237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5"/>
                  </a:lnTo>
                  <a:lnTo>
                    <a:pt x="0" y="1488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700" y="4493187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4"/>
                  </a:lnTo>
                  <a:lnTo>
                    <a:pt x="0" y="148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769201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5"/>
                  </a:lnTo>
                  <a:lnTo>
                    <a:pt x="0" y="1488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84278" y="-2420120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7"/>
                </a:lnTo>
                <a:lnTo>
                  <a:pt x="0" y="1211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97705" y="2264748"/>
            <a:ext cx="7315200" cy="1371600"/>
          </a:xfrm>
          <a:custGeom>
            <a:avLst/>
            <a:gdLst/>
            <a:ahLst/>
            <a:cxnLst/>
            <a:rect r="r" b="b" t="t" l="l"/>
            <a:pathLst>
              <a:path h="1371600" w="7315200">
                <a:moveTo>
                  <a:pt x="0" y="0"/>
                </a:moveTo>
                <a:lnTo>
                  <a:pt x="7315200" y="0"/>
                </a:lnTo>
                <a:lnTo>
                  <a:pt x="73152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97705" y="4443836"/>
            <a:ext cx="6892590" cy="281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1"/>
              </a:lnSpc>
            </a:pPr>
            <a:r>
              <a:rPr lang="en-US" sz="8072">
                <a:solidFill>
                  <a:srgbClr val="E8E7E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Satisfaction Level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4437" y="1252273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8"/>
                </a:lnTo>
                <a:lnTo>
                  <a:pt x="0" y="1211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31009" y="1719109"/>
            <a:ext cx="10200941" cy="7999703"/>
            <a:chOff x="0" y="0"/>
            <a:chExt cx="13601255" cy="1066627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238217"/>
              <a:ext cx="13601255" cy="1713405"/>
              <a:chOff x="0" y="0"/>
              <a:chExt cx="2686668" cy="3384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686668" cy="338450"/>
              </a:xfrm>
              <a:custGeom>
                <a:avLst/>
                <a:gdLst/>
                <a:ahLst/>
                <a:cxnLst/>
                <a:rect r="r" b="b" t="t" l="l"/>
                <a:pathLst>
                  <a:path h="338450" w="2686668">
                    <a:moveTo>
                      <a:pt x="38706" y="0"/>
                    </a:moveTo>
                    <a:lnTo>
                      <a:pt x="2647962" y="0"/>
                    </a:lnTo>
                    <a:cubicBezTo>
                      <a:pt x="2669338" y="0"/>
                      <a:pt x="2686668" y="17329"/>
                      <a:pt x="2686668" y="38706"/>
                    </a:cubicBezTo>
                    <a:lnTo>
                      <a:pt x="2686668" y="299744"/>
                    </a:lnTo>
                    <a:cubicBezTo>
                      <a:pt x="2686668" y="321121"/>
                      <a:pt x="2669338" y="338450"/>
                      <a:pt x="2647962" y="338450"/>
                    </a:cubicBezTo>
                    <a:lnTo>
                      <a:pt x="38706" y="338450"/>
                    </a:lnTo>
                    <a:cubicBezTo>
                      <a:pt x="17329" y="338450"/>
                      <a:pt x="0" y="321121"/>
                      <a:pt x="0" y="299744"/>
                    </a:cubicBezTo>
                    <a:lnTo>
                      <a:pt x="0" y="38706"/>
                    </a:lnTo>
                    <a:cubicBezTo>
                      <a:pt x="0" y="17329"/>
                      <a:pt x="17329" y="0"/>
                      <a:pt x="38706" y="0"/>
                    </a:cubicBezTo>
                    <a:close/>
                  </a:path>
                </a:pathLst>
              </a:custGeom>
              <a:solidFill>
                <a:srgbClr val="0024D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686668" cy="3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4476433"/>
              <a:ext cx="13601255" cy="1713405"/>
              <a:chOff x="0" y="0"/>
              <a:chExt cx="2686668" cy="33845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686668" cy="338450"/>
              </a:xfrm>
              <a:custGeom>
                <a:avLst/>
                <a:gdLst/>
                <a:ahLst/>
                <a:cxnLst/>
                <a:rect r="r" b="b" t="t" l="l"/>
                <a:pathLst>
                  <a:path h="338450" w="2686668">
                    <a:moveTo>
                      <a:pt x="38706" y="0"/>
                    </a:moveTo>
                    <a:lnTo>
                      <a:pt x="2647962" y="0"/>
                    </a:lnTo>
                    <a:cubicBezTo>
                      <a:pt x="2669338" y="0"/>
                      <a:pt x="2686668" y="17329"/>
                      <a:pt x="2686668" y="38706"/>
                    </a:cubicBezTo>
                    <a:lnTo>
                      <a:pt x="2686668" y="299744"/>
                    </a:lnTo>
                    <a:cubicBezTo>
                      <a:pt x="2686668" y="321121"/>
                      <a:pt x="2669338" y="338450"/>
                      <a:pt x="2647962" y="338450"/>
                    </a:cubicBezTo>
                    <a:lnTo>
                      <a:pt x="38706" y="338450"/>
                    </a:lnTo>
                    <a:cubicBezTo>
                      <a:pt x="17329" y="338450"/>
                      <a:pt x="0" y="321121"/>
                      <a:pt x="0" y="299744"/>
                    </a:cubicBezTo>
                    <a:lnTo>
                      <a:pt x="0" y="38706"/>
                    </a:lnTo>
                    <a:cubicBezTo>
                      <a:pt x="0" y="17329"/>
                      <a:pt x="17329" y="0"/>
                      <a:pt x="38706" y="0"/>
                    </a:cubicBezTo>
                    <a:close/>
                  </a:path>
                </a:pathLst>
              </a:custGeom>
              <a:solidFill>
                <a:srgbClr val="0024D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686668" cy="3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6714650"/>
              <a:ext cx="13601255" cy="1713405"/>
              <a:chOff x="0" y="0"/>
              <a:chExt cx="2686668" cy="33845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686668" cy="338450"/>
              </a:xfrm>
              <a:custGeom>
                <a:avLst/>
                <a:gdLst/>
                <a:ahLst/>
                <a:cxnLst/>
                <a:rect r="r" b="b" t="t" l="l"/>
                <a:pathLst>
                  <a:path h="338450" w="2686668">
                    <a:moveTo>
                      <a:pt x="38706" y="0"/>
                    </a:moveTo>
                    <a:lnTo>
                      <a:pt x="2647962" y="0"/>
                    </a:lnTo>
                    <a:cubicBezTo>
                      <a:pt x="2669338" y="0"/>
                      <a:pt x="2686668" y="17329"/>
                      <a:pt x="2686668" y="38706"/>
                    </a:cubicBezTo>
                    <a:lnTo>
                      <a:pt x="2686668" y="299744"/>
                    </a:lnTo>
                    <a:cubicBezTo>
                      <a:pt x="2686668" y="321121"/>
                      <a:pt x="2669338" y="338450"/>
                      <a:pt x="2647962" y="338450"/>
                    </a:cubicBezTo>
                    <a:lnTo>
                      <a:pt x="38706" y="338450"/>
                    </a:lnTo>
                    <a:cubicBezTo>
                      <a:pt x="17329" y="338450"/>
                      <a:pt x="0" y="321121"/>
                      <a:pt x="0" y="299744"/>
                    </a:cubicBezTo>
                    <a:lnTo>
                      <a:pt x="0" y="38706"/>
                    </a:lnTo>
                    <a:cubicBezTo>
                      <a:pt x="0" y="17329"/>
                      <a:pt x="17329" y="0"/>
                      <a:pt x="38706" y="0"/>
                    </a:cubicBezTo>
                    <a:close/>
                  </a:path>
                </a:pathLst>
              </a:custGeom>
              <a:solidFill>
                <a:srgbClr val="0024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686668" cy="3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8952866"/>
              <a:ext cx="13601255" cy="1713405"/>
              <a:chOff x="0" y="0"/>
              <a:chExt cx="2686668" cy="33845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86668" cy="338450"/>
              </a:xfrm>
              <a:custGeom>
                <a:avLst/>
                <a:gdLst/>
                <a:ahLst/>
                <a:cxnLst/>
                <a:rect r="r" b="b" t="t" l="l"/>
                <a:pathLst>
                  <a:path h="338450" w="2686668">
                    <a:moveTo>
                      <a:pt x="38706" y="0"/>
                    </a:moveTo>
                    <a:lnTo>
                      <a:pt x="2647962" y="0"/>
                    </a:lnTo>
                    <a:cubicBezTo>
                      <a:pt x="2669338" y="0"/>
                      <a:pt x="2686668" y="17329"/>
                      <a:pt x="2686668" y="38706"/>
                    </a:cubicBezTo>
                    <a:lnTo>
                      <a:pt x="2686668" y="299744"/>
                    </a:lnTo>
                    <a:cubicBezTo>
                      <a:pt x="2686668" y="321121"/>
                      <a:pt x="2669338" y="338450"/>
                      <a:pt x="2647962" y="338450"/>
                    </a:cubicBezTo>
                    <a:lnTo>
                      <a:pt x="38706" y="338450"/>
                    </a:lnTo>
                    <a:cubicBezTo>
                      <a:pt x="17329" y="338450"/>
                      <a:pt x="0" y="321121"/>
                      <a:pt x="0" y="299744"/>
                    </a:cubicBezTo>
                    <a:lnTo>
                      <a:pt x="0" y="38706"/>
                    </a:lnTo>
                    <a:cubicBezTo>
                      <a:pt x="0" y="17329"/>
                      <a:pt x="17329" y="0"/>
                      <a:pt x="38706" y="0"/>
                    </a:cubicBezTo>
                    <a:close/>
                  </a:path>
                </a:pathLst>
              </a:custGeom>
              <a:solidFill>
                <a:srgbClr val="0024D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2686668" cy="3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3601255" cy="1713405"/>
              <a:chOff x="0" y="0"/>
              <a:chExt cx="2686668" cy="33845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686668" cy="338450"/>
              </a:xfrm>
              <a:custGeom>
                <a:avLst/>
                <a:gdLst/>
                <a:ahLst/>
                <a:cxnLst/>
                <a:rect r="r" b="b" t="t" l="l"/>
                <a:pathLst>
                  <a:path h="338450" w="2686668">
                    <a:moveTo>
                      <a:pt x="38706" y="0"/>
                    </a:moveTo>
                    <a:lnTo>
                      <a:pt x="2647962" y="0"/>
                    </a:lnTo>
                    <a:cubicBezTo>
                      <a:pt x="2669338" y="0"/>
                      <a:pt x="2686668" y="17329"/>
                      <a:pt x="2686668" y="38706"/>
                    </a:cubicBezTo>
                    <a:lnTo>
                      <a:pt x="2686668" y="299744"/>
                    </a:lnTo>
                    <a:cubicBezTo>
                      <a:pt x="2686668" y="321121"/>
                      <a:pt x="2669338" y="338450"/>
                      <a:pt x="2647962" y="338450"/>
                    </a:cubicBezTo>
                    <a:lnTo>
                      <a:pt x="38706" y="338450"/>
                    </a:lnTo>
                    <a:cubicBezTo>
                      <a:pt x="17329" y="338450"/>
                      <a:pt x="0" y="321121"/>
                      <a:pt x="0" y="299744"/>
                    </a:cubicBezTo>
                    <a:lnTo>
                      <a:pt x="0" y="38706"/>
                    </a:lnTo>
                    <a:cubicBezTo>
                      <a:pt x="0" y="17329"/>
                      <a:pt x="17329" y="0"/>
                      <a:pt x="38706" y="0"/>
                    </a:cubicBezTo>
                    <a:close/>
                  </a:path>
                </a:pathLst>
              </a:custGeom>
              <a:solidFill>
                <a:srgbClr val="0024D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686668" cy="39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044239" y="387621"/>
              <a:ext cx="11512778" cy="844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10"/>
                </a:lnSpc>
              </a:pP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Years Filtered: Only 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2017 </a:t>
              </a: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and 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2018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42805" y="2688130"/>
              <a:ext cx="12912156" cy="844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10"/>
                </a:lnSpc>
              </a:pP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Total Revies Analyzed: 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~</a:t>
              </a:r>
              <a:r>
                <a:rPr lang="en-US" b="true" sz="3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98k</a:t>
              </a:r>
              <a:r>
                <a:rPr lang="en-US" b="true" sz="3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44550" y="4888246"/>
              <a:ext cx="12912156" cy="844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10"/>
                </a:lnSpc>
              </a:pP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Highly Satisfied Customers: 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57.81%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42805" y="7139163"/>
              <a:ext cx="12912156" cy="844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10"/>
                </a:lnSpc>
              </a:pP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Highly Unsatisfied Customers: 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11.46%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44550" y="9226389"/>
              <a:ext cx="12912156" cy="8447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10"/>
                </a:lnSpc>
              </a:pP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Average Review Score: 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4.08</a:t>
              </a: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3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out of</a:t>
              </a:r>
              <a:r>
                <a:rPr lang="en-US" b="true" sz="3650">
                  <a:solidFill>
                    <a:srgbClr val="F9DD6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121889" y="1790841"/>
            <a:ext cx="1185873" cy="6193362"/>
            <a:chOff x="0" y="0"/>
            <a:chExt cx="1581164" cy="82578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0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5"/>
                  </a:lnTo>
                  <a:lnTo>
                    <a:pt x="0" y="1488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2700" y="2274237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5"/>
                  </a:lnTo>
                  <a:lnTo>
                    <a:pt x="0" y="1488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2700" y="4493187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4"/>
                  </a:lnTo>
                  <a:lnTo>
                    <a:pt x="0" y="148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6769201"/>
              <a:ext cx="1568464" cy="1488615"/>
            </a:xfrm>
            <a:custGeom>
              <a:avLst/>
              <a:gdLst/>
              <a:ahLst/>
              <a:cxnLst/>
              <a:rect r="r" b="b" t="t" l="l"/>
              <a:pathLst>
                <a:path h="1488615" w="1568464">
                  <a:moveTo>
                    <a:pt x="0" y="0"/>
                  </a:moveTo>
                  <a:lnTo>
                    <a:pt x="1568464" y="0"/>
                  </a:lnTo>
                  <a:lnTo>
                    <a:pt x="1568464" y="1488615"/>
                  </a:lnTo>
                  <a:lnTo>
                    <a:pt x="0" y="1488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131414" y="8536653"/>
            <a:ext cx="1176348" cy="1116461"/>
          </a:xfrm>
          <a:custGeom>
            <a:avLst/>
            <a:gdLst/>
            <a:ahLst/>
            <a:cxnLst/>
            <a:rect r="r" b="b" t="t" l="l"/>
            <a:pathLst>
              <a:path h="1116461" w="1176348">
                <a:moveTo>
                  <a:pt x="0" y="0"/>
                </a:moveTo>
                <a:lnTo>
                  <a:pt x="1176348" y="0"/>
                </a:lnTo>
                <a:lnTo>
                  <a:pt x="1176348" y="1116461"/>
                </a:lnTo>
                <a:lnTo>
                  <a:pt x="0" y="1116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66485" y="327966"/>
            <a:ext cx="17833577" cy="1268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7"/>
              </a:lnSpc>
            </a:pPr>
            <a:r>
              <a:rPr lang="en-US" sz="74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Satisfaction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34853" y="1028700"/>
            <a:ext cx="13418294" cy="9026232"/>
          </a:xfrm>
          <a:custGeom>
            <a:avLst/>
            <a:gdLst/>
            <a:ahLst/>
            <a:cxnLst/>
            <a:rect r="r" b="b" t="t" l="l"/>
            <a:pathLst>
              <a:path h="9026232" w="13418294">
                <a:moveTo>
                  <a:pt x="0" y="0"/>
                </a:moveTo>
                <a:lnTo>
                  <a:pt x="13418294" y="0"/>
                </a:lnTo>
                <a:lnTo>
                  <a:pt x="13418294" y="9026232"/>
                </a:lnTo>
                <a:lnTo>
                  <a:pt x="0" y="9026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03" t="-7702" r="-275" b="-18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7211" y="-133350"/>
            <a:ext cx="17833577" cy="259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7"/>
              </a:lnSpc>
            </a:pPr>
            <a:r>
              <a:rPr lang="en-US" sz="74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Satisfaction Distribution</a:t>
            </a:r>
          </a:p>
          <a:p>
            <a:pPr algn="l">
              <a:lnSpc>
                <a:spcPts val="1048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342119"/>
            <a:ext cx="15419898" cy="8615404"/>
          </a:xfrm>
          <a:custGeom>
            <a:avLst/>
            <a:gdLst/>
            <a:ahLst/>
            <a:cxnLst/>
            <a:rect r="r" b="b" t="t" l="l"/>
            <a:pathLst>
              <a:path h="8615404" w="15419898">
                <a:moveTo>
                  <a:pt x="0" y="0"/>
                </a:moveTo>
                <a:lnTo>
                  <a:pt x="15419898" y="0"/>
                </a:lnTo>
                <a:lnTo>
                  <a:pt x="15419898" y="8615404"/>
                </a:lnTo>
                <a:lnTo>
                  <a:pt x="0" y="861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10" r="0" b="-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7181" y="282187"/>
            <a:ext cx="17833577" cy="20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57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Average </a:t>
            </a:r>
            <a:r>
              <a:rPr lang="en-US" sz="57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Customer Review Score Over Time</a:t>
            </a:r>
          </a:p>
          <a:p>
            <a:pPr algn="l">
              <a:lnSpc>
                <a:spcPts val="810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84278" y="-2420120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7"/>
                </a:lnTo>
                <a:lnTo>
                  <a:pt x="0" y="1211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04220" y="2621892"/>
            <a:ext cx="7479560" cy="1676737"/>
          </a:xfrm>
          <a:custGeom>
            <a:avLst/>
            <a:gdLst/>
            <a:ahLst/>
            <a:cxnLst/>
            <a:rect r="r" b="b" t="t" l="l"/>
            <a:pathLst>
              <a:path h="1676737" w="7479560">
                <a:moveTo>
                  <a:pt x="0" y="0"/>
                </a:moveTo>
                <a:lnTo>
                  <a:pt x="7479560" y="0"/>
                </a:lnTo>
                <a:lnTo>
                  <a:pt x="7479560" y="1676737"/>
                </a:lnTo>
                <a:lnTo>
                  <a:pt x="0" y="167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486400" y="4443836"/>
            <a:ext cx="7315200" cy="281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1"/>
              </a:lnSpc>
            </a:pPr>
            <a:r>
              <a:rPr lang="en-US" sz="8072">
                <a:solidFill>
                  <a:srgbClr val="E8E7E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Category Performance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150" y="1558920"/>
            <a:ext cx="15685700" cy="8352635"/>
          </a:xfrm>
          <a:custGeom>
            <a:avLst/>
            <a:gdLst/>
            <a:ahLst/>
            <a:cxnLst/>
            <a:rect r="r" b="b" t="t" l="l"/>
            <a:pathLst>
              <a:path h="8352635" w="15685700">
                <a:moveTo>
                  <a:pt x="0" y="0"/>
                </a:moveTo>
                <a:lnTo>
                  <a:pt x="15685700" y="0"/>
                </a:lnTo>
                <a:lnTo>
                  <a:pt x="15685700" y="8352635"/>
                </a:lnTo>
                <a:lnTo>
                  <a:pt x="0" y="8352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7416" y="355605"/>
            <a:ext cx="12913169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Reviews Per Category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0915" y="1467001"/>
            <a:ext cx="16766169" cy="8404042"/>
          </a:xfrm>
          <a:custGeom>
            <a:avLst/>
            <a:gdLst/>
            <a:ahLst/>
            <a:cxnLst/>
            <a:rect r="r" b="b" t="t" l="l"/>
            <a:pathLst>
              <a:path h="8404042" w="16766169">
                <a:moveTo>
                  <a:pt x="0" y="0"/>
                </a:moveTo>
                <a:lnTo>
                  <a:pt x="16766170" y="0"/>
                </a:lnTo>
                <a:lnTo>
                  <a:pt x="16766170" y="8404042"/>
                </a:lnTo>
                <a:lnTo>
                  <a:pt x="0" y="8404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2967" y="107794"/>
            <a:ext cx="16022065" cy="120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% Highly Unsatisfied Per Category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4872" y="9336084"/>
            <a:ext cx="2425901" cy="663453"/>
            <a:chOff x="0" y="0"/>
            <a:chExt cx="1237536" cy="338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31049" y="9336084"/>
            <a:ext cx="2425901" cy="663453"/>
            <a:chOff x="0" y="0"/>
            <a:chExt cx="1237536" cy="338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27227" y="9336084"/>
            <a:ext cx="2425901" cy="663453"/>
            <a:chOff x="0" y="0"/>
            <a:chExt cx="1237536" cy="338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98331" y="1311109"/>
            <a:ext cx="15691338" cy="7872575"/>
          </a:xfrm>
          <a:custGeom>
            <a:avLst/>
            <a:gdLst/>
            <a:ahLst/>
            <a:cxnLst/>
            <a:rect r="r" b="b" t="t" l="l"/>
            <a:pathLst>
              <a:path h="7872575" w="15691338">
                <a:moveTo>
                  <a:pt x="0" y="0"/>
                </a:moveTo>
                <a:lnTo>
                  <a:pt x="15691338" y="0"/>
                </a:lnTo>
                <a:lnTo>
                  <a:pt x="15691338" y="7872575"/>
                </a:lnTo>
                <a:lnTo>
                  <a:pt x="0" y="78725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7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7944" y="92324"/>
            <a:ext cx="17632112" cy="106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Highly Unsatisfied Comments Classification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3202" y="9430124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430124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430124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6974" y="1211052"/>
            <a:ext cx="15574051" cy="7864896"/>
          </a:xfrm>
          <a:custGeom>
            <a:avLst/>
            <a:gdLst/>
            <a:ahLst/>
            <a:cxnLst/>
            <a:rect r="r" b="b" t="t" l="l"/>
            <a:pathLst>
              <a:path h="7864896" w="15574051">
                <a:moveTo>
                  <a:pt x="0" y="0"/>
                </a:moveTo>
                <a:lnTo>
                  <a:pt x="15574052" y="0"/>
                </a:lnTo>
                <a:lnTo>
                  <a:pt x="15574052" y="7864896"/>
                </a:lnTo>
                <a:lnTo>
                  <a:pt x="0" y="7864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1251" y="117319"/>
            <a:ext cx="17505499" cy="116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Platform Related Comments Over Time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4872" y="9456906"/>
            <a:ext cx="2425901" cy="663453"/>
            <a:chOff x="0" y="0"/>
            <a:chExt cx="1237536" cy="338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31049" y="9456906"/>
            <a:ext cx="2425901" cy="663453"/>
            <a:chOff x="0" y="0"/>
            <a:chExt cx="1237536" cy="338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27227" y="9456906"/>
            <a:ext cx="2425901" cy="663453"/>
            <a:chOff x="0" y="0"/>
            <a:chExt cx="1237536" cy="338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783202" y="9550946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550946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550946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0345" y="-158697"/>
            <a:ext cx="9658350" cy="3565950"/>
            <a:chOff x="0" y="0"/>
            <a:chExt cx="2345031" cy="8658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5520" cy="865807"/>
            </a:xfrm>
            <a:custGeom>
              <a:avLst/>
              <a:gdLst/>
              <a:ahLst/>
              <a:cxnLst/>
              <a:rect r="r" b="b" t="t" l="l"/>
              <a:pathLst>
                <a:path h="865807" w="2355520">
                  <a:moveTo>
                    <a:pt x="1270765" y="0"/>
                  </a:moveTo>
                  <a:cubicBezTo>
                    <a:pt x="1429003" y="0"/>
                    <a:pt x="1545201" y="50168"/>
                    <a:pt x="1624662" y="108167"/>
                  </a:cubicBezTo>
                  <a:cubicBezTo>
                    <a:pt x="1768849" y="90298"/>
                    <a:pt x="1889793" y="96473"/>
                    <a:pt x="1986937" y="140930"/>
                  </a:cubicBezTo>
                  <a:cubicBezTo>
                    <a:pt x="2066442" y="177319"/>
                    <a:pt x="2101450" y="229183"/>
                    <a:pt x="2092646" y="281783"/>
                  </a:cubicBezTo>
                  <a:cubicBezTo>
                    <a:pt x="2273631" y="329579"/>
                    <a:pt x="2355520" y="419007"/>
                    <a:pt x="2335711" y="504878"/>
                  </a:cubicBezTo>
                  <a:cubicBezTo>
                    <a:pt x="2288707" y="600628"/>
                    <a:pt x="2053500" y="662173"/>
                    <a:pt x="1840842" y="646710"/>
                  </a:cubicBezTo>
                  <a:cubicBezTo>
                    <a:pt x="1780109" y="703584"/>
                    <a:pt x="1670764" y="748266"/>
                    <a:pt x="1532136" y="765145"/>
                  </a:cubicBezTo>
                  <a:cubicBezTo>
                    <a:pt x="1347229" y="787654"/>
                    <a:pt x="1161725" y="754505"/>
                    <a:pt x="1051445" y="687704"/>
                  </a:cubicBezTo>
                  <a:lnTo>
                    <a:pt x="447297" y="865807"/>
                  </a:lnTo>
                  <a:cubicBezTo>
                    <a:pt x="539425" y="812733"/>
                    <a:pt x="630277" y="765145"/>
                    <a:pt x="657559" y="682726"/>
                  </a:cubicBezTo>
                  <a:cubicBezTo>
                    <a:pt x="581572" y="693503"/>
                    <a:pt x="493470" y="690495"/>
                    <a:pt x="411637" y="671107"/>
                  </a:cubicBezTo>
                  <a:cubicBezTo>
                    <a:pt x="267489" y="636954"/>
                    <a:pt x="203326" y="561844"/>
                    <a:pt x="224404" y="498392"/>
                  </a:cubicBezTo>
                  <a:cubicBezTo>
                    <a:pt x="142331" y="471548"/>
                    <a:pt x="0" y="432811"/>
                    <a:pt x="0" y="341120"/>
                  </a:cubicBezTo>
                  <a:cubicBezTo>
                    <a:pt x="0" y="256104"/>
                    <a:pt x="186374" y="190838"/>
                    <a:pt x="361361" y="192565"/>
                  </a:cubicBezTo>
                  <a:cubicBezTo>
                    <a:pt x="380293" y="157736"/>
                    <a:pt x="421084" y="125695"/>
                    <a:pt x="482516" y="101915"/>
                  </a:cubicBezTo>
                  <a:cubicBezTo>
                    <a:pt x="612820" y="51488"/>
                    <a:pt x="813265" y="60199"/>
                    <a:pt x="920997" y="103855"/>
                  </a:cubicBezTo>
                  <a:cubicBezTo>
                    <a:pt x="996249" y="40134"/>
                    <a:pt x="1116112" y="0"/>
                    <a:pt x="1270765" y="0"/>
                  </a:cubicBezTo>
                  <a:close/>
                </a:path>
              </a:pathLst>
            </a:custGeom>
            <a:solidFill>
              <a:srgbClr val="000000">
                <a:alpha val="2588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437209" y="61228"/>
              <a:ext cx="1510359" cy="578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19340" y="481503"/>
            <a:ext cx="6240360" cy="191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advertised the product on the website, after it was purchased and payment approved,</a:t>
            </a:r>
            <a:r>
              <a:rPr lang="en-US" b="true" sz="268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689">
                <a:solidFill>
                  <a:srgbClr val="0024D4"/>
                </a:solidFill>
                <a:latin typeface="Poppins Bold"/>
                <a:ea typeface="Poppins Bold"/>
                <a:cs typeface="Poppins Bold"/>
                <a:sym typeface="Poppins Bold"/>
              </a:rPr>
              <a:t>they canceled it because it was not in stock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!!!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80695" y="475503"/>
            <a:ext cx="9658350" cy="3565950"/>
            <a:chOff x="0" y="0"/>
            <a:chExt cx="2345031" cy="8658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5520" cy="865807"/>
            </a:xfrm>
            <a:custGeom>
              <a:avLst/>
              <a:gdLst/>
              <a:ahLst/>
              <a:cxnLst/>
              <a:rect r="r" b="b" t="t" l="l"/>
              <a:pathLst>
                <a:path h="865807" w="2355520">
                  <a:moveTo>
                    <a:pt x="1270765" y="0"/>
                  </a:moveTo>
                  <a:cubicBezTo>
                    <a:pt x="1429003" y="0"/>
                    <a:pt x="1545201" y="50168"/>
                    <a:pt x="1624662" y="108167"/>
                  </a:cubicBezTo>
                  <a:cubicBezTo>
                    <a:pt x="1768849" y="90298"/>
                    <a:pt x="1889793" y="96473"/>
                    <a:pt x="1986937" y="140930"/>
                  </a:cubicBezTo>
                  <a:cubicBezTo>
                    <a:pt x="2066442" y="177319"/>
                    <a:pt x="2101450" y="229183"/>
                    <a:pt x="2092646" y="281783"/>
                  </a:cubicBezTo>
                  <a:cubicBezTo>
                    <a:pt x="2273631" y="329579"/>
                    <a:pt x="2355520" y="419007"/>
                    <a:pt x="2335711" y="504878"/>
                  </a:cubicBezTo>
                  <a:cubicBezTo>
                    <a:pt x="2288707" y="600628"/>
                    <a:pt x="2053500" y="662173"/>
                    <a:pt x="1840842" y="646710"/>
                  </a:cubicBezTo>
                  <a:cubicBezTo>
                    <a:pt x="1780109" y="703584"/>
                    <a:pt x="1670764" y="748266"/>
                    <a:pt x="1532136" y="765145"/>
                  </a:cubicBezTo>
                  <a:cubicBezTo>
                    <a:pt x="1347229" y="787654"/>
                    <a:pt x="1161725" y="754505"/>
                    <a:pt x="1051445" y="687704"/>
                  </a:cubicBezTo>
                  <a:lnTo>
                    <a:pt x="447297" y="865807"/>
                  </a:lnTo>
                  <a:cubicBezTo>
                    <a:pt x="539425" y="812733"/>
                    <a:pt x="630277" y="765145"/>
                    <a:pt x="657559" y="682726"/>
                  </a:cubicBezTo>
                  <a:cubicBezTo>
                    <a:pt x="581572" y="693503"/>
                    <a:pt x="493470" y="690495"/>
                    <a:pt x="411637" y="671107"/>
                  </a:cubicBezTo>
                  <a:cubicBezTo>
                    <a:pt x="267489" y="636954"/>
                    <a:pt x="203326" y="561844"/>
                    <a:pt x="224404" y="498392"/>
                  </a:cubicBezTo>
                  <a:cubicBezTo>
                    <a:pt x="142331" y="471548"/>
                    <a:pt x="0" y="432811"/>
                    <a:pt x="0" y="341120"/>
                  </a:cubicBezTo>
                  <a:cubicBezTo>
                    <a:pt x="0" y="256104"/>
                    <a:pt x="186374" y="190838"/>
                    <a:pt x="361361" y="192565"/>
                  </a:cubicBezTo>
                  <a:cubicBezTo>
                    <a:pt x="380293" y="157736"/>
                    <a:pt x="421084" y="125695"/>
                    <a:pt x="482516" y="101915"/>
                  </a:cubicBezTo>
                  <a:cubicBezTo>
                    <a:pt x="612820" y="51488"/>
                    <a:pt x="813265" y="60199"/>
                    <a:pt x="920997" y="103855"/>
                  </a:cubicBezTo>
                  <a:cubicBezTo>
                    <a:pt x="996249" y="40134"/>
                    <a:pt x="1116112" y="0"/>
                    <a:pt x="1270765" y="0"/>
                  </a:cubicBezTo>
                  <a:close/>
                </a:path>
              </a:pathLst>
            </a:custGeom>
            <a:solidFill>
              <a:srgbClr val="000000">
                <a:alpha val="2588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437209" y="61228"/>
              <a:ext cx="1510359" cy="578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28300" y="1115703"/>
            <a:ext cx="6240360" cy="191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contacted them several times by phone and </a:t>
            </a:r>
            <a:r>
              <a:rPr lang="en-US" b="true" sz="2689">
                <a:solidFill>
                  <a:srgbClr val="0024D4"/>
                </a:solidFill>
                <a:latin typeface="Poppins Bold"/>
                <a:ea typeface="Poppins Bold"/>
                <a:cs typeface="Poppins Bold"/>
                <a:sym typeface="Poppins Bold"/>
              </a:rPr>
              <a:t>they didn't answer, they hung up on me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es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dl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sed ......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972757" y="3167702"/>
            <a:ext cx="9658350" cy="3565950"/>
            <a:chOff x="0" y="0"/>
            <a:chExt cx="2345031" cy="8658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5520" cy="865807"/>
            </a:xfrm>
            <a:custGeom>
              <a:avLst/>
              <a:gdLst/>
              <a:ahLst/>
              <a:cxnLst/>
              <a:rect r="r" b="b" t="t" l="l"/>
              <a:pathLst>
                <a:path h="865807" w="2355520">
                  <a:moveTo>
                    <a:pt x="1270765" y="0"/>
                  </a:moveTo>
                  <a:cubicBezTo>
                    <a:pt x="1429003" y="0"/>
                    <a:pt x="1545201" y="50168"/>
                    <a:pt x="1624662" y="108167"/>
                  </a:cubicBezTo>
                  <a:cubicBezTo>
                    <a:pt x="1768849" y="90298"/>
                    <a:pt x="1889793" y="96473"/>
                    <a:pt x="1986937" y="140930"/>
                  </a:cubicBezTo>
                  <a:cubicBezTo>
                    <a:pt x="2066442" y="177319"/>
                    <a:pt x="2101450" y="229183"/>
                    <a:pt x="2092646" y="281783"/>
                  </a:cubicBezTo>
                  <a:cubicBezTo>
                    <a:pt x="2273631" y="329579"/>
                    <a:pt x="2355520" y="419007"/>
                    <a:pt x="2335711" y="504878"/>
                  </a:cubicBezTo>
                  <a:cubicBezTo>
                    <a:pt x="2288707" y="600628"/>
                    <a:pt x="2053500" y="662173"/>
                    <a:pt x="1840842" y="646710"/>
                  </a:cubicBezTo>
                  <a:cubicBezTo>
                    <a:pt x="1780109" y="703584"/>
                    <a:pt x="1670764" y="748266"/>
                    <a:pt x="1532136" y="765145"/>
                  </a:cubicBezTo>
                  <a:cubicBezTo>
                    <a:pt x="1347229" y="787654"/>
                    <a:pt x="1161725" y="754505"/>
                    <a:pt x="1051445" y="687704"/>
                  </a:cubicBezTo>
                  <a:lnTo>
                    <a:pt x="447297" y="865807"/>
                  </a:lnTo>
                  <a:cubicBezTo>
                    <a:pt x="539425" y="812733"/>
                    <a:pt x="630277" y="765145"/>
                    <a:pt x="657559" y="682726"/>
                  </a:cubicBezTo>
                  <a:cubicBezTo>
                    <a:pt x="581572" y="693503"/>
                    <a:pt x="493470" y="690495"/>
                    <a:pt x="411637" y="671107"/>
                  </a:cubicBezTo>
                  <a:cubicBezTo>
                    <a:pt x="267489" y="636954"/>
                    <a:pt x="203326" y="561844"/>
                    <a:pt x="224404" y="498392"/>
                  </a:cubicBezTo>
                  <a:cubicBezTo>
                    <a:pt x="142331" y="471548"/>
                    <a:pt x="0" y="432811"/>
                    <a:pt x="0" y="341120"/>
                  </a:cubicBezTo>
                  <a:cubicBezTo>
                    <a:pt x="0" y="256104"/>
                    <a:pt x="186374" y="190838"/>
                    <a:pt x="361361" y="192565"/>
                  </a:cubicBezTo>
                  <a:cubicBezTo>
                    <a:pt x="380293" y="157736"/>
                    <a:pt x="421084" y="125695"/>
                    <a:pt x="482516" y="101915"/>
                  </a:cubicBezTo>
                  <a:cubicBezTo>
                    <a:pt x="612820" y="51488"/>
                    <a:pt x="813265" y="60199"/>
                    <a:pt x="920997" y="103855"/>
                  </a:cubicBezTo>
                  <a:cubicBezTo>
                    <a:pt x="996249" y="40134"/>
                    <a:pt x="1116112" y="0"/>
                    <a:pt x="1270765" y="0"/>
                  </a:cubicBezTo>
                  <a:close/>
                </a:path>
              </a:pathLst>
            </a:custGeom>
            <a:solidFill>
              <a:srgbClr val="000000">
                <a:alpha val="2588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437209" y="61228"/>
              <a:ext cx="1510359" cy="578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681751" y="3750709"/>
            <a:ext cx="6240360" cy="191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bought it w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got screwed!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Exc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s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purchase bu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after-sales a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cces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ory </a:t>
            </a:r>
            <a:r>
              <a:rPr lang="en-US" b="true" sz="2689">
                <a:solidFill>
                  <a:srgbClr val="0024D4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services, exchange guidance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regret do not w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ork!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514350" y="3826909"/>
            <a:ext cx="9658350" cy="3565950"/>
            <a:chOff x="0" y="0"/>
            <a:chExt cx="2345031" cy="8658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55520" cy="865807"/>
            </a:xfrm>
            <a:custGeom>
              <a:avLst/>
              <a:gdLst/>
              <a:ahLst/>
              <a:cxnLst/>
              <a:rect r="r" b="b" t="t" l="l"/>
              <a:pathLst>
                <a:path h="865807" w="2355520">
                  <a:moveTo>
                    <a:pt x="1270765" y="0"/>
                  </a:moveTo>
                  <a:cubicBezTo>
                    <a:pt x="1429003" y="0"/>
                    <a:pt x="1545201" y="50168"/>
                    <a:pt x="1624662" y="108167"/>
                  </a:cubicBezTo>
                  <a:cubicBezTo>
                    <a:pt x="1768849" y="90298"/>
                    <a:pt x="1889793" y="96473"/>
                    <a:pt x="1986937" y="140930"/>
                  </a:cubicBezTo>
                  <a:cubicBezTo>
                    <a:pt x="2066442" y="177319"/>
                    <a:pt x="2101450" y="229183"/>
                    <a:pt x="2092646" y="281783"/>
                  </a:cubicBezTo>
                  <a:cubicBezTo>
                    <a:pt x="2273631" y="329579"/>
                    <a:pt x="2355520" y="419007"/>
                    <a:pt x="2335711" y="504878"/>
                  </a:cubicBezTo>
                  <a:cubicBezTo>
                    <a:pt x="2288707" y="600628"/>
                    <a:pt x="2053500" y="662173"/>
                    <a:pt x="1840842" y="646710"/>
                  </a:cubicBezTo>
                  <a:cubicBezTo>
                    <a:pt x="1780109" y="703584"/>
                    <a:pt x="1670764" y="748266"/>
                    <a:pt x="1532136" y="765145"/>
                  </a:cubicBezTo>
                  <a:cubicBezTo>
                    <a:pt x="1347229" y="787654"/>
                    <a:pt x="1161725" y="754505"/>
                    <a:pt x="1051445" y="687704"/>
                  </a:cubicBezTo>
                  <a:lnTo>
                    <a:pt x="447297" y="865807"/>
                  </a:lnTo>
                  <a:cubicBezTo>
                    <a:pt x="539425" y="812733"/>
                    <a:pt x="630277" y="765145"/>
                    <a:pt x="657559" y="682726"/>
                  </a:cubicBezTo>
                  <a:cubicBezTo>
                    <a:pt x="581572" y="693503"/>
                    <a:pt x="493470" y="690495"/>
                    <a:pt x="411637" y="671107"/>
                  </a:cubicBezTo>
                  <a:cubicBezTo>
                    <a:pt x="267489" y="636954"/>
                    <a:pt x="203326" y="561844"/>
                    <a:pt x="224404" y="498392"/>
                  </a:cubicBezTo>
                  <a:cubicBezTo>
                    <a:pt x="142331" y="471548"/>
                    <a:pt x="0" y="432811"/>
                    <a:pt x="0" y="341120"/>
                  </a:cubicBezTo>
                  <a:cubicBezTo>
                    <a:pt x="0" y="256104"/>
                    <a:pt x="186374" y="190838"/>
                    <a:pt x="361361" y="192565"/>
                  </a:cubicBezTo>
                  <a:cubicBezTo>
                    <a:pt x="380293" y="157736"/>
                    <a:pt x="421084" y="125695"/>
                    <a:pt x="482516" y="101915"/>
                  </a:cubicBezTo>
                  <a:cubicBezTo>
                    <a:pt x="612820" y="51488"/>
                    <a:pt x="813265" y="60199"/>
                    <a:pt x="920997" y="103855"/>
                  </a:cubicBezTo>
                  <a:cubicBezTo>
                    <a:pt x="996249" y="40134"/>
                    <a:pt x="1116112" y="0"/>
                    <a:pt x="1270765" y="0"/>
                  </a:cubicBezTo>
                  <a:close/>
                </a:path>
              </a:pathLst>
            </a:custGeom>
            <a:solidFill>
              <a:srgbClr val="000000">
                <a:alpha val="2588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437209" y="61228"/>
              <a:ext cx="1510359" cy="578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94645" y="4478957"/>
            <a:ext cx="6240360" cy="191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size is small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I realized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late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</a:t>
            </a:r>
            <a:r>
              <a:rPr lang="en-US" b="true" sz="2689">
                <a:solidFill>
                  <a:srgbClr val="0024D4"/>
                </a:solidFill>
                <a:latin typeface="Poppins Bold"/>
                <a:ea typeface="Poppins Bold"/>
                <a:cs typeface="Poppins Bold"/>
                <a:sym typeface="Poppins Bold"/>
              </a:rPr>
              <a:t> the ad does not highlight the dimensions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the product. Leaves something to be desired.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67736" y="6391842"/>
            <a:ext cx="8127943" cy="3000910"/>
            <a:chOff x="0" y="0"/>
            <a:chExt cx="2345031" cy="8658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55520" cy="865807"/>
            </a:xfrm>
            <a:custGeom>
              <a:avLst/>
              <a:gdLst/>
              <a:ahLst/>
              <a:cxnLst/>
              <a:rect r="r" b="b" t="t" l="l"/>
              <a:pathLst>
                <a:path h="865807" w="2355520">
                  <a:moveTo>
                    <a:pt x="1270765" y="0"/>
                  </a:moveTo>
                  <a:cubicBezTo>
                    <a:pt x="1429003" y="0"/>
                    <a:pt x="1545201" y="50168"/>
                    <a:pt x="1624662" y="108167"/>
                  </a:cubicBezTo>
                  <a:cubicBezTo>
                    <a:pt x="1768849" y="90298"/>
                    <a:pt x="1889793" y="96473"/>
                    <a:pt x="1986937" y="140930"/>
                  </a:cubicBezTo>
                  <a:cubicBezTo>
                    <a:pt x="2066442" y="177319"/>
                    <a:pt x="2101450" y="229183"/>
                    <a:pt x="2092646" y="281783"/>
                  </a:cubicBezTo>
                  <a:cubicBezTo>
                    <a:pt x="2273631" y="329579"/>
                    <a:pt x="2355520" y="419007"/>
                    <a:pt x="2335711" y="504878"/>
                  </a:cubicBezTo>
                  <a:cubicBezTo>
                    <a:pt x="2288707" y="600628"/>
                    <a:pt x="2053500" y="662173"/>
                    <a:pt x="1840842" y="646710"/>
                  </a:cubicBezTo>
                  <a:cubicBezTo>
                    <a:pt x="1780109" y="703584"/>
                    <a:pt x="1670764" y="748266"/>
                    <a:pt x="1532136" y="765145"/>
                  </a:cubicBezTo>
                  <a:cubicBezTo>
                    <a:pt x="1347229" y="787654"/>
                    <a:pt x="1161725" y="754505"/>
                    <a:pt x="1051445" y="687704"/>
                  </a:cubicBezTo>
                  <a:lnTo>
                    <a:pt x="447297" y="865807"/>
                  </a:lnTo>
                  <a:cubicBezTo>
                    <a:pt x="539425" y="812733"/>
                    <a:pt x="630277" y="765145"/>
                    <a:pt x="657559" y="682726"/>
                  </a:cubicBezTo>
                  <a:cubicBezTo>
                    <a:pt x="581572" y="693503"/>
                    <a:pt x="493470" y="690495"/>
                    <a:pt x="411637" y="671107"/>
                  </a:cubicBezTo>
                  <a:cubicBezTo>
                    <a:pt x="267489" y="636954"/>
                    <a:pt x="203326" y="561844"/>
                    <a:pt x="224404" y="498392"/>
                  </a:cubicBezTo>
                  <a:cubicBezTo>
                    <a:pt x="142331" y="471548"/>
                    <a:pt x="0" y="432811"/>
                    <a:pt x="0" y="341120"/>
                  </a:cubicBezTo>
                  <a:cubicBezTo>
                    <a:pt x="0" y="256104"/>
                    <a:pt x="186374" y="190838"/>
                    <a:pt x="361361" y="192565"/>
                  </a:cubicBezTo>
                  <a:cubicBezTo>
                    <a:pt x="380293" y="157736"/>
                    <a:pt x="421084" y="125695"/>
                    <a:pt x="482516" y="101915"/>
                  </a:cubicBezTo>
                  <a:cubicBezTo>
                    <a:pt x="612820" y="51488"/>
                    <a:pt x="813265" y="60199"/>
                    <a:pt x="920997" y="103855"/>
                  </a:cubicBezTo>
                  <a:cubicBezTo>
                    <a:pt x="996249" y="40134"/>
                    <a:pt x="1116112" y="0"/>
                    <a:pt x="1270765" y="0"/>
                  </a:cubicBezTo>
                  <a:close/>
                </a:path>
              </a:pathLst>
            </a:custGeom>
            <a:solidFill>
              <a:srgbClr val="000000">
                <a:alpha val="25882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437209" y="61228"/>
              <a:ext cx="1510359" cy="578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211527" y="7135880"/>
            <a:ext cx="6240360" cy="143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Fake watch, I marvel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 a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li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the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nis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ter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allow </a:t>
            </a:r>
            <a:r>
              <a:rPr lang="en-US" b="true" sz="2689">
                <a:solidFill>
                  <a:srgbClr val="0024D4"/>
                </a:solidFill>
                <a:latin typeface="Poppins Bold"/>
                <a:ea typeface="Poppins Bold"/>
                <a:cs typeface="Poppins Bold"/>
                <a:sym typeface="Poppins Bold"/>
              </a:rPr>
              <a:t>third parties to sell fake products</a:t>
            </a:r>
            <a:r>
              <a:rPr lang="en-US" sz="26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4872" y="9535627"/>
            <a:ext cx="2425901" cy="663453"/>
            <a:chOff x="0" y="0"/>
            <a:chExt cx="1237536" cy="338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31049" y="9535627"/>
            <a:ext cx="2425901" cy="663453"/>
            <a:chOff x="0" y="0"/>
            <a:chExt cx="1237536" cy="3384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27227" y="9535627"/>
            <a:ext cx="2425901" cy="663453"/>
            <a:chOff x="0" y="0"/>
            <a:chExt cx="1237536" cy="3384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783202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79379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75557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3453483" y="-4481696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12112938"/>
                </a:moveTo>
                <a:lnTo>
                  <a:pt x="18283678" y="12112938"/>
                </a:lnTo>
                <a:lnTo>
                  <a:pt x="18283678" y="0"/>
                </a:lnTo>
                <a:lnTo>
                  <a:pt x="0" y="0"/>
                </a:lnTo>
                <a:lnTo>
                  <a:pt x="0" y="12112938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91485" y="2849925"/>
            <a:ext cx="9777801" cy="1498354"/>
            <a:chOff x="0" y="0"/>
            <a:chExt cx="3514471" cy="538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4471" cy="538559"/>
            </a:xfrm>
            <a:custGeom>
              <a:avLst/>
              <a:gdLst/>
              <a:ahLst/>
              <a:cxnLst/>
              <a:rect r="r" b="b" t="t" l="l"/>
              <a:pathLst>
                <a:path h="538559" w="3514471">
                  <a:moveTo>
                    <a:pt x="40381" y="0"/>
                  </a:moveTo>
                  <a:lnTo>
                    <a:pt x="3474090" y="0"/>
                  </a:lnTo>
                  <a:cubicBezTo>
                    <a:pt x="3484800" y="0"/>
                    <a:pt x="3495071" y="4254"/>
                    <a:pt x="3502644" y="11827"/>
                  </a:cubicBezTo>
                  <a:cubicBezTo>
                    <a:pt x="3510217" y="19400"/>
                    <a:pt x="3514471" y="29671"/>
                    <a:pt x="3514471" y="40381"/>
                  </a:cubicBezTo>
                  <a:lnTo>
                    <a:pt x="3514471" y="498178"/>
                  </a:lnTo>
                  <a:cubicBezTo>
                    <a:pt x="3514471" y="520480"/>
                    <a:pt x="3496392" y="538559"/>
                    <a:pt x="3474090" y="538559"/>
                  </a:cubicBezTo>
                  <a:lnTo>
                    <a:pt x="40381" y="538559"/>
                  </a:lnTo>
                  <a:cubicBezTo>
                    <a:pt x="18079" y="538559"/>
                    <a:pt x="0" y="520480"/>
                    <a:pt x="0" y="498178"/>
                  </a:cubicBezTo>
                  <a:lnTo>
                    <a:pt x="0" y="40381"/>
                  </a:lnTo>
                  <a:cubicBezTo>
                    <a:pt x="0" y="18079"/>
                    <a:pt x="18079" y="0"/>
                    <a:pt x="40381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4471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51563" y="2659179"/>
            <a:ext cx="1879844" cy="18798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79932" y="3113765"/>
            <a:ext cx="1223106" cy="903953"/>
          </a:xfrm>
          <a:custGeom>
            <a:avLst/>
            <a:gdLst/>
            <a:ahLst/>
            <a:cxnLst/>
            <a:rect r="r" b="b" t="t" l="l"/>
            <a:pathLst>
              <a:path h="903953" w="1223106">
                <a:moveTo>
                  <a:pt x="0" y="0"/>
                </a:moveTo>
                <a:lnTo>
                  <a:pt x="1223106" y="0"/>
                </a:lnTo>
                <a:lnTo>
                  <a:pt x="1223106" y="903953"/>
                </a:lnTo>
                <a:lnTo>
                  <a:pt x="0" y="90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069" y="1013940"/>
            <a:ext cx="899221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74803" y="3350564"/>
            <a:ext cx="6531185" cy="54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b="true" sz="3121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Strengthen After-Sales Support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91485" y="4817470"/>
            <a:ext cx="9777801" cy="1498354"/>
            <a:chOff x="0" y="0"/>
            <a:chExt cx="3514471" cy="5385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14471" cy="538559"/>
            </a:xfrm>
            <a:custGeom>
              <a:avLst/>
              <a:gdLst/>
              <a:ahLst/>
              <a:cxnLst/>
              <a:rect r="r" b="b" t="t" l="l"/>
              <a:pathLst>
                <a:path h="538559" w="3514471">
                  <a:moveTo>
                    <a:pt x="40381" y="0"/>
                  </a:moveTo>
                  <a:lnTo>
                    <a:pt x="3474090" y="0"/>
                  </a:lnTo>
                  <a:cubicBezTo>
                    <a:pt x="3484800" y="0"/>
                    <a:pt x="3495071" y="4254"/>
                    <a:pt x="3502644" y="11827"/>
                  </a:cubicBezTo>
                  <a:cubicBezTo>
                    <a:pt x="3510217" y="19400"/>
                    <a:pt x="3514471" y="29671"/>
                    <a:pt x="3514471" y="40381"/>
                  </a:cubicBezTo>
                  <a:lnTo>
                    <a:pt x="3514471" y="498178"/>
                  </a:lnTo>
                  <a:cubicBezTo>
                    <a:pt x="3514471" y="520480"/>
                    <a:pt x="3496392" y="538559"/>
                    <a:pt x="3474090" y="538559"/>
                  </a:cubicBezTo>
                  <a:lnTo>
                    <a:pt x="40381" y="538559"/>
                  </a:lnTo>
                  <a:cubicBezTo>
                    <a:pt x="18079" y="538559"/>
                    <a:pt x="0" y="520480"/>
                    <a:pt x="0" y="498178"/>
                  </a:cubicBezTo>
                  <a:lnTo>
                    <a:pt x="0" y="40381"/>
                  </a:lnTo>
                  <a:cubicBezTo>
                    <a:pt x="0" y="18079"/>
                    <a:pt x="18079" y="0"/>
                    <a:pt x="40381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514471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51563" y="4626724"/>
            <a:ext cx="1879844" cy="18798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236357" y="5072444"/>
            <a:ext cx="1110256" cy="1110256"/>
          </a:xfrm>
          <a:custGeom>
            <a:avLst/>
            <a:gdLst/>
            <a:ahLst/>
            <a:cxnLst/>
            <a:rect r="r" b="b" t="t" l="l"/>
            <a:pathLst>
              <a:path h="1110256" w="1110256">
                <a:moveTo>
                  <a:pt x="0" y="0"/>
                </a:moveTo>
                <a:lnTo>
                  <a:pt x="1110256" y="0"/>
                </a:lnTo>
                <a:lnTo>
                  <a:pt x="1110256" y="1110255"/>
                </a:lnTo>
                <a:lnTo>
                  <a:pt x="0" y="1110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75116" y="5257056"/>
            <a:ext cx="8130558" cy="54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b="true" sz="3121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 Improve Product Information Accuracy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791485" y="6906864"/>
            <a:ext cx="9777801" cy="1498354"/>
            <a:chOff x="0" y="0"/>
            <a:chExt cx="3514471" cy="538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14471" cy="538559"/>
            </a:xfrm>
            <a:custGeom>
              <a:avLst/>
              <a:gdLst/>
              <a:ahLst/>
              <a:cxnLst/>
              <a:rect r="r" b="b" t="t" l="l"/>
              <a:pathLst>
                <a:path h="538559" w="3514471">
                  <a:moveTo>
                    <a:pt x="40381" y="0"/>
                  </a:moveTo>
                  <a:lnTo>
                    <a:pt x="3474090" y="0"/>
                  </a:lnTo>
                  <a:cubicBezTo>
                    <a:pt x="3484800" y="0"/>
                    <a:pt x="3495071" y="4254"/>
                    <a:pt x="3502644" y="11827"/>
                  </a:cubicBezTo>
                  <a:cubicBezTo>
                    <a:pt x="3510217" y="19400"/>
                    <a:pt x="3514471" y="29671"/>
                    <a:pt x="3514471" y="40381"/>
                  </a:cubicBezTo>
                  <a:lnTo>
                    <a:pt x="3514471" y="498178"/>
                  </a:lnTo>
                  <a:cubicBezTo>
                    <a:pt x="3514471" y="520480"/>
                    <a:pt x="3496392" y="538559"/>
                    <a:pt x="3474090" y="538559"/>
                  </a:cubicBezTo>
                  <a:lnTo>
                    <a:pt x="40381" y="538559"/>
                  </a:lnTo>
                  <a:cubicBezTo>
                    <a:pt x="18079" y="538559"/>
                    <a:pt x="0" y="520480"/>
                    <a:pt x="0" y="498178"/>
                  </a:cubicBezTo>
                  <a:lnTo>
                    <a:pt x="0" y="40381"/>
                  </a:lnTo>
                  <a:cubicBezTo>
                    <a:pt x="0" y="18079"/>
                    <a:pt x="18079" y="0"/>
                    <a:pt x="40381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514471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851563" y="6716119"/>
            <a:ext cx="1879844" cy="187984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179932" y="7306669"/>
            <a:ext cx="1178603" cy="758592"/>
          </a:xfrm>
          <a:custGeom>
            <a:avLst/>
            <a:gdLst/>
            <a:ahLst/>
            <a:cxnLst/>
            <a:rect r="r" b="b" t="t" l="l"/>
            <a:pathLst>
              <a:path h="758592" w="1178603">
                <a:moveTo>
                  <a:pt x="0" y="0"/>
                </a:moveTo>
                <a:lnTo>
                  <a:pt x="1178603" y="0"/>
                </a:lnTo>
                <a:lnTo>
                  <a:pt x="1178603" y="758592"/>
                </a:lnTo>
                <a:lnTo>
                  <a:pt x="0" y="75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330031" y="7346451"/>
            <a:ext cx="7220728" cy="54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b="true" sz="3121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‘Update Refund and Return Policies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84278" y="-2420120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7"/>
                </a:lnTo>
                <a:lnTo>
                  <a:pt x="0" y="1211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62075" y="2028145"/>
            <a:ext cx="3363850" cy="2342080"/>
          </a:xfrm>
          <a:custGeom>
            <a:avLst/>
            <a:gdLst/>
            <a:ahLst/>
            <a:cxnLst/>
            <a:rect r="r" b="b" t="t" l="l"/>
            <a:pathLst>
              <a:path h="2342080" w="3363850">
                <a:moveTo>
                  <a:pt x="0" y="0"/>
                </a:moveTo>
                <a:lnTo>
                  <a:pt x="3363850" y="0"/>
                </a:lnTo>
                <a:lnTo>
                  <a:pt x="3363850" y="2342081"/>
                </a:lnTo>
                <a:lnTo>
                  <a:pt x="0" y="2342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86400" y="4443836"/>
            <a:ext cx="7315200" cy="281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1"/>
              </a:lnSpc>
            </a:pPr>
            <a:r>
              <a:rPr lang="en-US" sz="8072">
                <a:solidFill>
                  <a:srgbClr val="E8E7E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Carrier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4872" y="9535627"/>
            <a:ext cx="2425901" cy="663453"/>
            <a:chOff x="0" y="0"/>
            <a:chExt cx="1237536" cy="338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31049" y="9535627"/>
            <a:ext cx="2425901" cy="663453"/>
            <a:chOff x="0" y="0"/>
            <a:chExt cx="1237536" cy="338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27227" y="9535627"/>
            <a:ext cx="2425901" cy="663453"/>
            <a:chOff x="0" y="0"/>
            <a:chExt cx="1237536" cy="338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01953" y="1028700"/>
            <a:ext cx="17107875" cy="8506927"/>
          </a:xfrm>
          <a:custGeom>
            <a:avLst/>
            <a:gdLst/>
            <a:ahLst/>
            <a:cxnLst/>
            <a:rect r="r" b="b" t="t" l="l"/>
            <a:pathLst>
              <a:path h="8506927" w="17107875">
                <a:moveTo>
                  <a:pt x="0" y="0"/>
                </a:moveTo>
                <a:lnTo>
                  <a:pt x="17107874" y="0"/>
                </a:lnTo>
                <a:lnTo>
                  <a:pt x="17107874" y="8506927"/>
                </a:lnTo>
                <a:lnTo>
                  <a:pt x="0" y="8506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09" r="-351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85797" y="-132070"/>
            <a:ext cx="13155926" cy="116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most late delivered category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3202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1215" y="1448665"/>
            <a:ext cx="15145570" cy="8418689"/>
          </a:xfrm>
          <a:custGeom>
            <a:avLst/>
            <a:gdLst/>
            <a:ahLst/>
            <a:cxnLst/>
            <a:rect r="r" b="b" t="t" l="l"/>
            <a:pathLst>
              <a:path h="8418689" w="15145570">
                <a:moveTo>
                  <a:pt x="0" y="0"/>
                </a:moveTo>
                <a:lnTo>
                  <a:pt x="15145570" y="0"/>
                </a:lnTo>
                <a:lnTo>
                  <a:pt x="15145570" y="8418689"/>
                </a:lnTo>
                <a:lnTo>
                  <a:pt x="0" y="8418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81" r="-35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1251" y="117319"/>
            <a:ext cx="17505499" cy="236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Highly unsatisfaction delivery spam</a:t>
            </a:r>
          </a:p>
          <a:p>
            <a:pPr algn="l">
              <a:lnSpc>
                <a:spcPts val="95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434872" y="9535627"/>
            <a:ext cx="2425901" cy="663453"/>
            <a:chOff x="0" y="0"/>
            <a:chExt cx="1237536" cy="338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31049" y="9535627"/>
            <a:ext cx="2425901" cy="663453"/>
            <a:chOff x="0" y="0"/>
            <a:chExt cx="1237536" cy="338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27227" y="9535627"/>
            <a:ext cx="2425901" cy="663453"/>
            <a:chOff x="0" y="0"/>
            <a:chExt cx="1237536" cy="338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783202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9302" y="1364454"/>
            <a:ext cx="15180154" cy="8407978"/>
          </a:xfrm>
          <a:custGeom>
            <a:avLst/>
            <a:gdLst/>
            <a:ahLst/>
            <a:cxnLst/>
            <a:rect r="r" b="b" t="t" l="l"/>
            <a:pathLst>
              <a:path h="8407978" w="15180154">
                <a:moveTo>
                  <a:pt x="0" y="0"/>
                </a:moveTo>
                <a:lnTo>
                  <a:pt x="15180155" y="0"/>
                </a:lnTo>
                <a:lnTo>
                  <a:pt x="15180155" y="8407978"/>
                </a:lnTo>
                <a:lnTo>
                  <a:pt x="0" y="8407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23" r="-341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1251" y="117319"/>
            <a:ext cx="17505499" cy="236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Highly satisfaction delivery spam</a:t>
            </a:r>
          </a:p>
          <a:p>
            <a:pPr algn="l">
              <a:lnSpc>
                <a:spcPts val="95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1434872" y="9535627"/>
            <a:ext cx="2425901" cy="663453"/>
            <a:chOff x="0" y="0"/>
            <a:chExt cx="1237536" cy="338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7C85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31049" y="9535627"/>
            <a:ext cx="2425901" cy="663453"/>
            <a:chOff x="0" y="0"/>
            <a:chExt cx="1237536" cy="3384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27227" y="9535627"/>
            <a:ext cx="2425901" cy="663453"/>
            <a:chOff x="0" y="0"/>
            <a:chExt cx="1237536" cy="3384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783202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3453483" y="-4481696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12112938"/>
                </a:moveTo>
                <a:lnTo>
                  <a:pt x="18283678" y="12112938"/>
                </a:lnTo>
                <a:lnTo>
                  <a:pt x="18283678" y="0"/>
                </a:lnTo>
                <a:lnTo>
                  <a:pt x="0" y="0"/>
                </a:lnTo>
                <a:lnTo>
                  <a:pt x="0" y="12112938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91485" y="2849925"/>
            <a:ext cx="9777801" cy="1498354"/>
            <a:chOff x="0" y="0"/>
            <a:chExt cx="3514471" cy="538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4471" cy="538559"/>
            </a:xfrm>
            <a:custGeom>
              <a:avLst/>
              <a:gdLst/>
              <a:ahLst/>
              <a:cxnLst/>
              <a:rect r="r" b="b" t="t" l="l"/>
              <a:pathLst>
                <a:path h="538559" w="3514471">
                  <a:moveTo>
                    <a:pt x="40381" y="0"/>
                  </a:moveTo>
                  <a:lnTo>
                    <a:pt x="3474090" y="0"/>
                  </a:lnTo>
                  <a:cubicBezTo>
                    <a:pt x="3484800" y="0"/>
                    <a:pt x="3495071" y="4254"/>
                    <a:pt x="3502644" y="11827"/>
                  </a:cubicBezTo>
                  <a:cubicBezTo>
                    <a:pt x="3510217" y="19400"/>
                    <a:pt x="3514471" y="29671"/>
                    <a:pt x="3514471" y="40381"/>
                  </a:cubicBezTo>
                  <a:lnTo>
                    <a:pt x="3514471" y="498178"/>
                  </a:lnTo>
                  <a:cubicBezTo>
                    <a:pt x="3514471" y="520480"/>
                    <a:pt x="3496392" y="538559"/>
                    <a:pt x="3474090" y="538559"/>
                  </a:cubicBezTo>
                  <a:lnTo>
                    <a:pt x="40381" y="538559"/>
                  </a:lnTo>
                  <a:cubicBezTo>
                    <a:pt x="18079" y="538559"/>
                    <a:pt x="0" y="520480"/>
                    <a:pt x="0" y="498178"/>
                  </a:cubicBezTo>
                  <a:lnTo>
                    <a:pt x="0" y="40381"/>
                  </a:lnTo>
                  <a:cubicBezTo>
                    <a:pt x="0" y="18079"/>
                    <a:pt x="18079" y="0"/>
                    <a:pt x="40381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4471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51563" y="2659179"/>
            <a:ext cx="1879844" cy="18798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79932" y="3113765"/>
            <a:ext cx="1223106" cy="903953"/>
          </a:xfrm>
          <a:custGeom>
            <a:avLst/>
            <a:gdLst/>
            <a:ahLst/>
            <a:cxnLst/>
            <a:rect r="r" b="b" t="t" l="l"/>
            <a:pathLst>
              <a:path h="903953" w="1223106">
                <a:moveTo>
                  <a:pt x="0" y="0"/>
                </a:moveTo>
                <a:lnTo>
                  <a:pt x="1223106" y="0"/>
                </a:lnTo>
                <a:lnTo>
                  <a:pt x="1223106" y="903953"/>
                </a:lnTo>
                <a:lnTo>
                  <a:pt x="0" y="90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069" y="1013940"/>
            <a:ext cx="899221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97901" y="3289511"/>
            <a:ext cx="8871386" cy="54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0"/>
              </a:lnSpc>
            </a:pPr>
            <a:r>
              <a:rPr lang="en-US" b="true" sz="3121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 Improve shipping and delivery processes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91485" y="4817470"/>
            <a:ext cx="9777801" cy="1498354"/>
            <a:chOff x="0" y="0"/>
            <a:chExt cx="3514471" cy="5385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14471" cy="538559"/>
            </a:xfrm>
            <a:custGeom>
              <a:avLst/>
              <a:gdLst/>
              <a:ahLst/>
              <a:cxnLst/>
              <a:rect r="r" b="b" t="t" l="l"/>
              <a:pathLst>
                <a:path h="538559" w="3514471">
                  <a:moveTo>
                    <a:pt x="40381" y="0"/>
                  </a:moveTo>
                  <a:lnTo>
                    <a:pt x="3474090" y="0"/>
                  </a:lnTo>
                  <a:cubicBezTo>
                    <a:pt x="3484800" y="0"/>
                    <a:pt x="3495071" y="4254"/>
                    <a:pt x="3502644" y="11827"/>
                  </a:cubicBezTo>
                  <a:cubicBezTo>
                    <a:pt x="3510217" y="19400"/>
                    <a:pt x="3514471" y="29671"/>
                    <a:pt x="3514471" y="40381"/>
                  </a:cubicBezTo>
                  <a:lnTo>
                    <a:pt x="3514471" y="498178"/>
                  </a:lnTo>
                  <a:cubicBezTo>
                    <a:pt x="3514471" y="520480"/>
                    <a:pt x="3496392" y="538559"/>
                    <a:pt x="3474090" y="538559"/>
                  </a:cubicBezTo>
                  <a:lnTo>
                    <a:pt x="40381" y="538559"/>
                  </a:lnTo>
                  <a:cubicBezTo>
                    <a:pt x="18079" y="538559"/>
                    <a:pt x="0" y="520480"/>
                    <a:pt x="0" y="498178"/>
                  </a:cubicBezTo>
                  <a:lnTo>
                    <a:pt x="0" y="40381"/>
                  </a:lnTo>
                  <a:cubicBezTo>
                    <a:pt x="0" y="18079"/>
                    <a:pt x="18079" y="0"/>
                    <a:pt x="40381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514471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51563" y="4626724"/>
            <a:ext cx="1879844" cy="18798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236357" y="5072444"/>
            <a:ext cx="1110256" cy="1110256"/>
          </a:xfrm>
          <a:custGeom>
            <a:avLst/>
            <a:gdLst/>
            <a:ahLst/>
            <a:cxnLst/>
            <a:rect r="r" b="b" t="t" l="l"/>
            <a:pathLst>
              <a:path h="1110256" w="1110256">
                <a:moveTo>
                  <a:pt x="0" y="0"/>
                </a:moveTo>
                <a:lnTo>
                  <a:pt x="1110256" y="0"/>
                </a:lnTo>
                <a:lnTo>
                  <a:pt x="1110256" y="1110255"/>
                </a:lnTo>
                <a:lnTo>
                  <a:pt x="0" y="1110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167029" y="5015502"/>
            <a:ext cx="7933129" cy="103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060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 Partner with more reliable delivery companies.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179932" y="6936788"/>
            <a:ext cx="10389354" cy="1498354"/>
            <a:chOff x="0" y="0"/>
            <a:chExt cx="3734284" cy="538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34284" cy="538559"/>
            </a:xfrm>
            <a:custGeom>
              <a:avLst/>
              <a:gdLst/>
              <a:ahLst/>
              <a:cxnLst/>
              <a:rect r="r" b="b" t="t" l="l"/>
              <a:pathLst>
                <a:path h="538559" w="3734284">
                  <a:moveTo>
                    <a:pt x="38004" y="0"/>
                  </a:moveTo>
                  <a:lnTo>
                    <a:pt x="3696280" y="0"/>
                  </a:lnTo>
                  <a:cubicBezTo>
                    <a:pt x="3706359" y="0"/>
                    <a:pt x="3716026" y="4004"/>
                    <a:pt x="3723153" y="11131"/>
                  </a:cubicBezTo>
                  <a:cubicBezTo>
                    <a:pt x="3730280" y="18258"/>
                    <a:pt x="3734284" y="27925"/>
                    <a:pt x="3734284" y="38004"/>
                  </a:cubicBezTo>
                  <a:lnTo>
                    <a:pt x="3734284" y="500555"/>
                  </a:lnTo>
                  <a:cubicBezTo>
                    <a:pt x="3734284" y="510634"/>
                    <a:pt x="3730280" y="520301"/>
                    <a:pt x="3723153" y="527428"/>
                  </a:cubicBezTo>
                  <a:cubicBezTo>
                    <a:pt x="3716026" y="534555"/>
                    <a:pt x="3706359" y="538559"/>
                    <a:pt x="3696280" y="538559"/>
                  </a:cubicBezTo>
                  <a:lnTo>
                    <a:pt x="38004" y="538559"/>
                  </a:lnTo>
                  <a:cubicBezTo>
                    <a:pt x="27925" y="538559"/>
                    <a:pt x="18258" y="534555"/>
                    <a:pt x="11131" y="527428"/>
                  </a:cubicBezTo>
                  <a:cubicBezTo>
                    <a:pt x="4004" y="520301"/>
                    <a:pt x="0" y="510634"/>
                    <a:pt x="0" y="500555"/>
                  </a:cubicBezTo>
                  <a:lnTo>
                    <a:pt x="0" y="38004"/>
                  </a:lnTo>
                  <a:cubicBezTo>
                    <a:pt x="0" y="27925"/>
                    <a:pt x="4004" y="18258"/>
                    <a:pt x="11131" y="11131"/>
                  </a:cubicBezTo>
                  <a:cubicBezTo>
                    <a:pt x="18258" y="4004"/>
                    <a:pt x="27925" y="0"/>
                    <a:pt x="38004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734284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851563" y="6716119"/>
            <a:ext cx="1879844" cy="187984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179932" y="7306669"/>
            <a:ext cx="1178603" cy="758592"/>
          </a:xfrm>
          <a:custGeom>
            <a:avLst/>
            <a:gdLst/>
            <a:ahLst/>
            <a:cxnLst/>
            <a:rect r="r" b="b" t="t" l="l"/>
            <a:pathLst>
              <a:path h="758592" w="1178603">
                <a:moveTo>
                  <a:pt x="0" y="0"/>
                </a:moveTo>
                <a:lnTo>
                  <a:pt x="1178603" y="0"/>
                </a:lnTo>
                <a:lnTo>
                  <a:pt x="1178603" y="758592"/>
                </a:lnTo>
                <a:lnTo>
                  <a:pt x="0" y="75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765716" y="7388715"/>
            <a:ext cx="7933129" cy="52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060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 supplier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84278" y="-2420120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7"/>
                </a:lnTo>
                <a:lnTo>
                  <a:pt x="0" y="1211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61057" y="1028700"/>
            <a:ext cx="2965887" cy="3341526"/>
          </a:xfrm>
          <a:custGeom>
            <a:avLst/>
            <a:gdLst/>
            <a:ahLst/>
            <a:cxnLst/>
            <a:rect r="r" b="b" t="t" l="l"/>
            <a:pathLst>
              <a:path h="3341526" w="2965887">
                <a:moveTo>
                  <a:pt x="0" y="0"/>
                </a:moveTo>
                <a:lnTo>
                  <a:pt x="2965886" y="0"/>
                </a:lnTo>
                <a:lnTo>
                  <a:pt x="2965886" y="3341526"/>
                </a:lnTo>
                <a:lnTo>
                  <a:pt x="0" y="3341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9" t="0" r="-238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86400" y="4443836"/>
            <a:ext cx="7315200" cy="281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1"/>
              </a:lnSpc>
            </a:pPr>
            <a:r>
              <a:rPr lang="en-US" sz="8072">
                <a:solidFill>
                  <a:srgbClr val="E8E7E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Seller Performance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4872" y="9535627"/>
            <a:ext cx="2425901" cy="663453"/>
            <a:chOff x="0" y="0"/>
            <a:chExt cx="1237536" cy="338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31049" y="9535627"/>
            <a:ext cx="2425901" cy="663453"/>
            <a:chOff x="0" y="0"/>
            <a:chExt cx="1237536" cy="338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27227" y="9535627"/>
            <a:ext cx="2425901" cy="663453"/>
            <a:chOff x="0" y="0"/>
            <a:chExt cx="1237536" cy="338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8859" y="1278089"/>
            <a:ext cx="15790283" cy="8054435"/>
          </a:xfrm>
          <a:custGeom>
            <a:avLst/>
            <a:gdLst/>
            <a:ahLst/>
            <a:cxnLst/>
            <a:rect r="r" b="b" t="t" l="l"/>
            <a:pathLst>
              <a:path h="8054435" w="15790283">
                <a:moveTo>
                  <a:pt x="0" y="0"/>
                </a:moveTo>
                <a:lnTo>
                  <a:pt x="15790282" y="0"/>
                </a:lnTo>
                <a:lnTo>
                  <a:pt x="15790282" y="8054436"/>
                </a:lnTo>
                <a:lnTo>
                  <a:pt x="0" y="8054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87" t="-6129" r="-4601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24394" y="117319"/>
            <a:ext cx="13639212" cy="116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Total Sellers Per Review Score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3202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4872" y="9535627"/>
            <a:ext cx="2425901" cy="663453"/>
            <a:chOff x="0" y="0"/>
            <a:chExt cx="1237536" cy="338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31049" y="9535627"/>
            <a:ext cx="2425901" cy="663453"/>
            <a:chOff x="0" y="0"/>
            <a:chExt cx="1237536" cy="338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27227" y="9535627"/>
            <a:ext cx="2425901" cy="663453"/>
            <a:chOff x="0" y="0"/>
            <a:chExt cx="1237536" cy="338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6656" y="1028700"/>
            <a:ext cx="17014687" cy="8194983"/>
          </a:xfrm>
          <a:custGeom>
            <a:avLst/>
            <a:gdLst/>
            <a:ahLst/>
            <a:cxnLst/>
            <a:rect r="r" b="b" t="t" l="l"/>
            <a:pathLst>
              <a:path h="8194983" w="17014687">
                <a:moveTo>
                  <a:pt x="0" y="0"/>
                </a:moveTo>
                <a:lnTo>
                  <a:pt x="17014688" y="0"/>
                </a:lnTo>
                <a:lnTo>
                  <a:pt x="17014688" y="8194983"/>
                </a:lnTo>
                <a:lnTo>
                  <a:pt x="0" y="8194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3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69052" y="-132070"/>
            <a:ext cx="13949896" cy="116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10 Low Performing Sellers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3202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4872" y="9535627"/>
            <a:ext cx="2425901" cy="663453"/>
            <a:chOff x="0" y="0"/>
            <a:chExt cx="1237536" cy="338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FFBE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31049" y="9535627"/>
            <a:ext cx="2425901" cy="663453"/>
            <a:chOff x="0" y="0"/>
            <a:chExt cx="1237536" cy="338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27227" y="9535627"/>
            <a:ext cx="2425901" cy="663453"/>
            <a:chOff x="0" y="0"/>
            <a:chExt cx="1237536" cy="338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7536" cy="338450"/>
            </a:xfrm>
            <a:custGeom>
              <a:avLst/>
              <a:gdLst/>
              <a:ahLst/>
              <a:cxnLst/>
              <a:rect r="r" b="b" t="t" l="l"/>
              <a:pathLst>
                <a:path h="338450" w="1237536">
                  <a:moveTo>
                    <a:pt x="162759" y="0"/>
                  </a:moveTo>
                  <a:lnTo>
                    <a:pt x="1074777" y="0"/>
                  </a:lnTo>
                  <a:cubicBezTo>
                    <a:pt x="1164666" y="0"/>
                    <a:pt x="1237536" y="72870"/>
                    <a:pt x="1237536" y="162759"/>
                  </a:cubicBezTo>
                  <a:lnTo>
                    <a:pt x="1237536" y="175691"/>
                  </a:lnTo>
                  <a:cubicBezTo>
                    <a:pt x="1237536" y="218858"/>
                    <a:pt x="1220388" y="260256"/>
                    <a:pt x="1189865" y="290779"/>
                  </a:cubicBezTo>
                  <a:cubicBezTo>
                    <a:pt x="1159341" y="321303"/>
                    <a:pt x="1117943" y="338450"/>
                    <a:pt x="1074777" y="338450"/>
                  </a:cubicBezTo>
                  <a:lnTo>
                    <a:pt x="162759" y="338450"/>
                  </a:lnTo>
                  <a:cubicBezTo>
                    <a:pt x="72870" y="338450"/>
                    <a:pt x="0" y="265581"/>
                    <a:pt x="0" y="175691"/>
                  </a:cubicBezTo>
                  <a:lnTo>
                    <a:pt x="0" y="162759"/>
                  </a:lnTo>
                  <a:cubicBezTo>
                    <a:pt x="0" y="72870"/>
                    <a:pt x="72870" y="0"/>
                    <a:pt x="162759" y="0"/>
                  </a:cubicBezTo>
                  <a:close/>
                </a:path>
              </a:pathLst>
            </a:custGeom>
            <a:solidFill>
              <a:srgbClr val="8696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7536" cy="39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8902" y="1028700"/>
            <a:ext cx="17010195" cy="8192754"/>
          </a:xfrm>
          <a:custGeom>
            <a:avLst/>
            <a:gdLst/>
            <a:ahLst/>
            <a:cxnLst/>
            <a:rect r="r" b="b" t="t" l="l"/>
            <a:pathLst>
              <a:path h="8192754" w="17010195">
                <a:moveTo>
                  <a:pt x="0" y="0"/>
                </a:moveTo>
                <a:lnTo>
                  <a:pt x="17010196" y="0"/>
                </a:lnTo>
                <a:lnTo>
                  <a:pt x="17010196" y="8192754"/>
                </a:lnTo>
                <a:lnTo>
                  <a:pt x="0" y="8192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33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52764" y="-132070"/>
            <a:ext cx="14382473" cy="116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Sellers Per Comments Category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3202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9379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Carrier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5557" y="9629667"/>
            <a:ext cx="1729241" cy="408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b="true" sz="2284">
                <a:solidFill>
                  <a:srgbClr val="EFF4F6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3453483" y="-4481696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12112938"/>
                </a:moveTo>
                <a:lnTo>
                  <a:pt x="18283678" y="12112938"/>
                </a:lnTo>
                <a:lnTo>
                  <a:pt x="18283678" y="0"/>
                </a:lnTo>
                <a:lnTo>
                  <a:pt x="0" y="0"/>
                </a:lnTo>
                <a:lnTo>
                  <a:pt x="0" y="12112938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91485" y="2849925"/>
            <a:ext cx="9777801" cy="1498354"/>
            <a:chOff x="0" y="0"/>
            <a:chExt cx="3514471" cy="538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4471" cy="538559"/>
            </a:xfrm>
            <a:custGeom>
              <a:avLst/>
              <a:gdLst/>
              <a:ahLst/>
              <a:cxnLst/>
              <a:rect r="r" b="b" t="t" l="l"/>
              <a:pathLst>
                <a:path h="538559" w="3514471">
                  <a:moveTo>
                    <a:pt x="40381" y="0"/>
                  </a:moveTo>
                  <a:lnTo>
                    <a:pt x="3474090" y="0"/>
                  </a:lnTo>
                  <a:cubicBezTo>
                    <a:pt x="3484800" y="0"/>
                    <a:pt x="3495071" y="4254"/>
                    <a:pt x="3502644" y="11827"/>
                  </a:cubicBezTo>
                  <a:cubicBezTo>
                    <a:pt x="3510217" y="19400"/>
                    <a:pt x="3514471" y="29671"/>
                    <a:pt x="3514471" y="40381"/>
                  </a:cubicBezTo>
                  <a:lnTo>
                    <a:pt x="3514471" y="498178"/>
                  </a:lnTo>
                  <a:cubicBezTo>
                    <a:pt x="3514471" y="520480"/>
                    <a:pt x="3496392" y="538559"/>
                    <a:pt x="3474090" y="538559"/>
                  </a:cubicBezTo>
                  <a:lnTo>
                    <a:pt x="40381" y="538559"/>
                  </a:lnTo>
                  <a:cubicBezTo>
                    <a:pt x="18079" y="538559"/>
                    <a:pt x="0" y="520480"/>
                    <a:pt x="0" y="498178"/>
                  </a:cubicBezTo>
                  <a:lnTo>
                    <a:pt x="0" y="40381"/>
                  </a:lnTo>
                  <a:cubicBezTo>
                    <a:pt x="0" y="18079"/>
                    <a:pt x="18079" y="0"/>
                    <a:pt x="40381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14471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51563" y="2659179"/>
            <a:ext cx="1879844" cy="18798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79932" y="3113765"/>
            <a:ext cx="1223106" cy="903953"/>
          </a:xfrm>
          <a:custGeom>
            <a:avLst/>
            <a:gdLst/>
            <a:ahLst/>
            <a:cxnLst/>
            <a:rect r="r" b="b" t="t" l="l"/>
            <a:pathLst>
              <a:path h="903953" w="1223106">
                <a:moveTo>
                  <a:pt x="0" y="0"/>
                </a:moveTo>
                <a:lnTo>
                  <a:pt x="1223106" y="0"/>
                </a:lnTo>
                <a:lnTo>
                  <a:pt x="1223106" y="903953"/>
                </a:lnTo>
                <a:lnTo>
                  <a:pt x="0" y="90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069" y="1013940"/>
            <a:ext cx="899221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97901" y="3299036"/>
            <a:ext cx="8871386" cy="49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b="true" sz="2821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 Implement early-warning alerts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91485" y="4817470"/>
            <a:ext cx="9777801" cy="1498354"/>
            <a:chOff x="0" y="0"/>
            <a:chExt cx="3514471" cy="5385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14471" cy="538559"/>
            </a:xfrm>
            <a:custGeom>
              <a:avLst/>
              <a:gdLst/>
              <a:ahLst/>
              <a:cxnLst/>
              <a:rect r="r" b="b" t="t" l="l"/>
              <a:pathLst>
                <a:path h="538559" w="3514471">
                  <a:moveTo>
                    <a:pt x="40381" y="0"/>
                  </a:moveTo>
                  <a:lnTo>
                    <a:pt x="3474090" y="0"/>
                  </a:lnTo>
                  <a:cubicBezTo>
                    <a:pt x="3484800" y="0"/>
                    <a:pt x="3495071" y="4254"/>
                    <a:pt x="3502644" y="11827"/>
                  </a:cubicBezTo>
                  <a:cubicBezTo>
                    <a:pt x="3510217" y="19400"/>
                    <a:pt x="3514471" y="29671"/>
                    <a:pt x="3514471" y="40381"/>
                  </a:cubicBezTo>
                  <a:lnTo>
                    <a:pt x="3514471" y="498178"/>
                  </a:lnTo>
                  <a:cubicBezTo>
                    <a:pt x="3514471" y="520480"/>
                    <a:pt x="3496392" y="538559"/>
                    <a:pt x="3474090" y="538559"/>
                  </a:cubicBezTo>
                  <a:lnTo>
                    <a:pt x="40381" y="538559"/>
                  </a:lnTo>
                  <a:cubicBezTo>
                    <a:pt x="18079" y="538559"/>
                    <a:pt x="0" y="520480"/>
                    <a:pt x="0" y="498178"/>
                  </a:cubicBezTo>
                  <a:lnTo>
                    <a:pt x="0" y="40381"/>
                  </a:lnTo>
                  <a:cubicBezTo>
                    <a:pt x="0" y="18079"/>
                    <a:pt x="18079" y="0"/>
                    <a:pt x="40381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3514471" cy="624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48"/>
                </a:lnSpc>
              </a:pPr>
              <a:r>
                <a:rPr lang="en-US" b="true" sz="28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Introduce performance-based incentives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51563" y="4626724"/>
            <a:ext cx="1879844" cy="187984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236357" y="5072444"/>
            <a:ext cx="1110256" cy="1110256"/>
          </a:xfrm>
          <a:custGeom>
            <a:avLst/>
            <a:gdLst/>
            <a:ahLst/>
            <a:cxnLst/>
            <a:rect r="r" b="b" t="t" l="l"/>
            <a:pathLst>
              <a:path h="1110256" w="1110256">
                <a:moveTo>
                  <a:pt x="0" y="0"/>
                </a:moveTo>
                <a:lnTo>
                  <a:pt x="1110256" y="0"/>
                </a:lnTo>
                <a:lnTo>
                  <a:pt x="1110256" y="1110255"/>
                </a:lnTo>
                <a:lnTo>
                  <a:pt x="0" y="1110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179932" y="6936788"/>
            <a:ext cx="10389354" cy="1498354"/>
            <a:chOff x="0" y="0"/>
            <a:chExt cx="3734284" cy="538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34284" cy="538559"/>
            </a:xfrm>
            <a:custGeom>
              <a:avLst/>
              <a:gdLst/>
              <a:ahLst/>
              <a:cxnLst/>
              <a:rect r="r" b="b" t="t" l="l"/>
              <a:pathLst>
                <a:path h="538559" w="3734284">
                  <a:moveTo>
                    <a:pt x="38004" y="0"/>
                  </a:moveTo>
                  <a:lnTo>
                    <a:pt x="3696280" y="0"/>
                  </a:lnTo>
                  <a:cubicBezTo>
                    <a:pt x="3706359" y="0"/>
                    <a:pt x="3716026" y="4004"/>
                    <a:pt x="3723153" y="11131"/>
                  </a:cubicBezTo>
                  <a:cubicBezTo>
                    <a:pt x="3730280" y="18258"/>
                    <a:pt x="3734284" y="27925"/>
                    <a:pt x="3734284" y="38004"/>
                  </a:cubicBezTo>
                  <a:lnTo>
                    <a:pt x="3734284" y="500555"/>
                  </a:lnTo>
                  <a:cubicBezTo>
                    <a:pt x="3734284" y="510634"/>
                    <a:pt x="3730280" y="520301"/>
                    <a:pt x="3723153" y="527428"/>
                  </a:cubicBezTo>
                  <a:cubicBezTo>
                    <a:pt x="3716026" y="534555"/>
                    <a:pt x="3706359" y="538559"/>
                    <a:pt x="3696280" y="538559"/>
                  </a:cubicBezTo>
                  <a:lnTo>
                    <a:pt x="38004" y="538559"/>
                  </a:lnTo>
                  <a:cubicBezTo>
                    <a:pt x="27925" y="538559"/>
                    <a:pt x="18258" y="534555"/>
                    <a:pt x="11131" y="527428"/>
                  </a:cubicBezTo>
                  <a:cubicBezTo>
                    <a:pt x="4004" y="520301"/>
                    <a:pt x="0" y="510634"/>
                    <a:pt x="0" y="500555"/>
                  </a:cubicBezTo>
                  <a:lnTo>
                    <a:pt x="0" y="38004"/>
                  </a:lnTo>
                  <a:cubicBezTo>
                    <a:pt x="0" y="27925"/>
                    <a:pt x="4004" y="18258"/>
                    <a:pt x="11131" y="11131"/>
                  </a:cubicBezTo>
                  <a:cubicBezTo>
                    <a:pt x="18258" y="4004"/>
                    <a:pt x="27925" y="0"/>
                    <a:pt x="38004" y="0"/>
                  </a:cubicBez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734284" cy="595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51563" y="6716119"/>
            <a:ext cx="1879844" cy="187984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179932" y="7306669"/>
            <a:ext cx="1178603" cy="758592"/>
          </a:xfrm>
          <a:custGeom>
            <a:avLst/>
            <a:gdLst/>
            <a:ahLst/>
            <a:cxnLst/>
            <a:rect r="r" b="b" t="t" l="l"/>
            <a:pathLst>
              <a:path h="758592" w="1178603">
                <a:moveTo>
                  <a:pt x="0" y="0"/>
                </a:moveTo>
                <a:lnTo>
                  <a:pt x="1178603" y="0"/>
                </a:lnTo>
                <a:lnTo>
                  <a:pt x="1178603" y="758592"/>
                </a:lnTo>
                <a:lnTo>
                  <a:pt x="0" y="7585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765716" y="7388715"/>
            <a:ext cx="7933129" cy="49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</a:pPr>
            <a:r>
              <a:rPr lang="en-US" b="true" sz="2820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Increase verification and inspection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71676" y="4158965"/>
            <a:ext cx="18283679" cy="12112937"/>
          </a:xfrm>
          <a:custGeom>
            <a:avLst/>
            <a:gdLst/>
            <a:ahLst/>
            <a:cxnLst/>
            <a:rect r="r" b="b" t="t" l="l"/>
            <a:pathLst>
              <a:path h="12112937" w="18283679">
                <a:moveTo>
                  <a:pt x="0" y="0"/>
                </a:moveTo>
                <a:lnTo>
                  <a:pt x="18283679" y="0"/>
                </a:lnTo>
                <a:lnTo>
                  <a:pt x="18283679" y="12112937"/>
                </a:lnTo>
                <a:lnTo>
                  <a:pt x="0" y="12112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12272" y="-188728"/>
            <a:ext cx="5237864" cy="5237864"/>
            <a:chOff x="0" y="0"/>
            <a:chExt cx="1130167" cy="11301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0167" cy="1130167"/>
            </a:xfrm>
            <a:custGeom>
              <a:avLst/>
              <a:gdLst/>
              <a:ahLst/>
              <a:cxnLst/>
              <a:rect r="r" b="b" t="t" l="l"/>
              <a:pathLst>
                <a:path h="1130167" w="1130167">
                  <a:moveTo>
                    <a:pt x="0" y="0"/>
                  </a:moveTo>
                  <a:lnTo>
                    <a:pt x="1130167" y="0"/>
                  </a:lnTo>
                  <a:lnTo>
                    <a:pt x="1130167" y="1130167"/>
                  </a:lnTo>
                  <a:lnTo>
                    <a:pt x="0" y="1130167"/>
                  </a:ln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30167" cy="118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50136" y="-188728"/>
            <a:ext cx="5237864" cy="5237864"/>
            <a:chOff x="0" y="0"/>
            <a:chExt cx="1130167" cy="11301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0167" cy="1130167"/>
            </a:xfrm>
            <a:custGeom>
              <a:avLst/>
              <a:gdLst/>
              <a:ahLst/>
              <a:cxnLst/>
              <a:rect r="r" b="b" t="t" l="l"/>
              <a:pathLst>
                <a:path h="1130167" w="1130167">
                  <a:moveTo>
                    <a:pt x="0" y="0"/>
                  </a:moveTo>
                  <a:lnTo>
                    <a:pt x="1130167" y="0"/>
                  </a:lnTo>
                  <a:lnTo>
                    <a:pt x="1130167" y="1130167"/>
                  </a:lnTo>
                  <a:lnTo>
                    <a:pt x="0" y="113016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30167" cy="118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12272" y="5049136"/>
            <a:ext cx="5237864" cy="5237864"/>
            <a:chOff x="0" y="0"/>
            <a:chExt cx="1130167" cy="11301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0167" cy="1130167"/>
            </a:xfrm>
            <a:custGeom>
              <a:avLst/>
              <a:gdLst/>
              <a:ahLst/>
              <a:cxnLst/>
              <a:rect r="r" b="b" t="t" l="l"/>
              <a:pathLst>
                <a:path h="1130167" w="1130167">
                  <a:moveTo>
                    <a:pt x="0" y="0"/>
                  </a:moveTo>
                  <a:lnTo>
                    <a:pt x="1130167" y="0"/>
                  </a:lnTo>
                  <a:lnTo>
                    <a:pt x="1130167" y="1130167"/>
                  </a:lnTo>
                  <a:lnTo>
                    <a:pt x="0" y="1130167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30167" cy="118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050136" y="5049136"/>
            <a:ext cx="5237864" cy="5237864"/>
            <a:chOff x="0" y="0"/>
            <a:chExt cx="1130167" cy="11301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0167" cy="1130167"/>
            </a:xfrm>
            <a:custGeom>
              <a:avLst/>
              <a:gdLst/>
              <a:ahLst/>
              <a:cxnLst/>
              <a:rect r="r" b="b" t="t" l="l"/>
              <a:pathLst>
                <a:path h="1130167" w="1130167">
                  <a:moveTo>
                    <a:pt x="0" y="0"/>
                  </a:moveTo>
                  <a:lnTo>
                    <a:pt x="1130167" y="0"/>
                  </a:lnTo>
                  <a:lnTo>
                    <a:pt x="1130167" y="1130167"/>
                  </a:lnTo>
                  <a:lnTo>
                    <a:pt x="0" y="1130167"/>
                  </a:lnTo>
                  <a:close/>
                </a:path>
              </a:pathLst>
            </a:custGeom>
            <a:solidFill>
              <a:srgbClr val="0024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30167" cy="118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886042" y="6360920"/>
            <a:ext cx="731686" cy="73168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4D4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632324" y="-632324"/>
            <a:ext cx="1661024" cy="16610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4D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94425" y="4669363"/>
            <a:ext cx="4898571" cy="4114800"/>
          </a:xfrm>
          <a:custGeom>
            <a:avLst/>
            <a:gdLst/>
            <a:ahLst/>
            <a:cxnLst/>
            <a:rect r="r" b="b" t="t" l="l"/>
            <a:pathLst>
              <a:path h="4114800" w="4898571">
                <a:moveTo>
                  <a:pt x="0" y="0"/>
                </a:moveTo>
                <a:lnTo>
                  <a:pt x="4898572" y="0"/>
                </a:lnTo>
                <a:lnTo>
                  <a:pt x="48985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83467" y="1789707"/>
            <a:ext cx="6145397" cy="127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6"/>
              </a:lnSpc>
            </a:pPr>
            <a:r>
              <a:rPr lang="en-US" sz="828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50404" y="1614099"/>
            <a:ext cx="3674693" cy="70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</a:pPr>
            <a:r>
              <a:rPr lang="en-US" b="true" sz="3871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Time Limited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50404" y="2674276"/>
            <a:ext cx="3961599" cy="45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b="true" sz="2604" i="true">
                <a:solidFill>
                  <a:srgbClr val="FFDE59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2017 - 2018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05488" y="1520208"/>
            <a:ext cx="3423418" cy="70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</a:pPr>
            <a:r>
              <a:rPr lang="en-US" b="true" sz="3871">
                <a:solidFill>
                  <a:srgbClr val="1C3879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40702" y="2635550"/>
            <a:ext cx="3488204" cy="914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b="true" sz="2604" i="true">
                <a:solidFill>
                  <a:srgbClr val="1C3879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Product Categorization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79851" y="6978306"/>
            <a:ext cx="3674693" cy="70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</a:pPr>
            <a:r>
              <a:rPr lang="en-US" b="true" sz="3871">
                <a:solidFill>
                  <a:srgbClr val="E8E7E7"/>
                </a:solidFill>
                <a:latin typeface="Poppins Bold"/>
                <a:ea typeface="Poppins Bold"/>
                <a:cs typeface="Poppins Bold"/>
                <a:sym typeface="Poppins Bold"/>
              </a:rPr>
              <a:t>Lack of Details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31682" y="8040637"/>
            <a:ext cx="3571031" cy="45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b="true" sz="2604" i="true">
                <a:solidFill>
                  <a:srgbClr val="FFDE59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Delivery Agent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12272" y="6938127"/>
            <a:ext cx="5237864" cy="70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0"/>
              </a:lnSpc>
            </a:pPr>
            <a:r>
              <a:rPr lang="en-US" b="true" sz="3871">
                <a:solidFill>
                  <a:srgbClr val="1C3879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Languages Barrier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50404" y="7998304"/>
            <a:ext cx="3961599" cy="45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b="true" sz="2604" i="true">
                <a:solidFill>
                  <a:srgbClr val="1C3879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Portuguese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60590">
            <a:off x="-4808111" y="-6358723"/>
            <a:ext cx="25422536" cy="16842430"/>
          </a:xfrm>
          <a:custGeom>
            <a:avLst/>
            <a:gdLst/>
            <a:ahLst/>
            <a:cxnLst/>
            <a:rect r="r" b="b" t="t" l="l"/>
            <a:pathLst>
              <a:path h="16842430" w="25422536">
                <a:moveTo>
                  <a:pt x="0" y="0"/>
                </a:moveTo>
                <a:lnTo>
                  <a:pt x="25422536" y="0"/>
                </a:lnTo>
                <a:lnTo>
                  <a:pt x="25422536" y="16842430"/>
                </a:lnTo>
                <a:lnTo>
                  <a:pt x="0" y="1684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422302"/>
            <a:ext cx="835998" cy="83599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65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91066" y="6529475"/>
            <a:ext cx="4768133" cy="4325997"/>
          </a:xfrm>
          <a:custGeom>
            <a:avLst/>
            <a:gdLst/>
            <a:ahLst/>
            <a:cxnLst/>
            <a:rect r="r" b="b" t="t" l="l"/>
            <a:pathLst>
              <a:path h="4325997" w="4768133">
                <a:moveTo>
                  <a:pt x="0" y="0"/>
                </a:moveTo>
                <a:lnTo>
                  <a:pt x="4768133" y="0"/>
                </a:lnTo>
                <a:lnTo>
                  <a:pt x="4768133" y="4325998"/>
                </a:lnTo>
                <a:lnTo>
                  <a:pt x="0" y="4325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5400000">
            <a:off x="1948192" y="-3184575"/>
            <a:ext cx="14391617" cy="10494133"/>
            <a:chOff x="0" y="0"/>
            <a:chExt cx="557336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7336" cy="406400"/>
            </a:xfrm>
            <a:custGeom>
              <a:avLst/>
              <a:gdLst/>
              <a:ahLst/>
              <a:cxnLst/>
              <a:rect r="r" b="b" t="t" l="l"/>
              <a:pathLst>
                <a:path h="406400" w="557336">
                  <a:moveTo>
                    <a:pt x="354136" y="0"/>
                  </a:moveTo>
                  <a:cubicBezTo>
                    <a:pt x="466360" y="0"/>
                    <a:pt x="557336" y="90976"/>
                    <a:pt x="557336" y="203200"/>
                  </a:cubicBezTo>
                  <a:cubicBezTo>
                    <a:pt x="557336" y="315424"/>
                    <a:pt x="466360" y="406400"/>
                    <a:pt x="35413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C387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57336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58852" y="3470674"/>
            <a:ext cx="10494133" cy="192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67"/>
              </a:lnSpc>
            </a:pPr>
            <a:r>
              <a:rPr lang="en-US" sz="11262">
                <a:solidFill>
                  <a:srgbClr val="F9DD6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375074" y="6529475"/>
            <a:ext cx="4835972" cy="4325997"/>
          </a:xfrm>
          <a:custGeom>
            <a:avLst/>
            <a:gdLst/>
            <a:ahLst/>
            <a:cxnLst/>
            <a:rect r="r" b="b" t="t" l="l"/>
            <a:pathLst>
              <a:path h="4325997" w="4835972">
                <a:moveTo>
                  <a:pt x="0" y="0"/>
                </a:moveTo>
                <a:lnTo>
                  <a:pt x="4835972" y="0"/>
                </a:lnTo>
                <a:lnTo>
                  <a:pt x="4835972" y="4325998"/>
                </a:lnTo>
                <a:lnTo>
                  <a:pt x="0" y="4325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402962" y="3793958"/>
            <a:ext cx="1486722" cy="148672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879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98315" y="3793958"/>
            <a:ext cx="1486722" cy="148672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387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DAG3dbE-PN8</dc:identifier>
  <dcterms:modified xsi:type="dcterms:W3CDTF">2011-08-01T06:04:30Z</dcterms:modified>
  <cp:revision>1</cp:revision>
  <dc:title>Blue Yellow Playful Illustrative Finance Company Profile Presentation</dc:title>
</cp:coreProperties>
</file>